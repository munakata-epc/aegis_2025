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9"/>
  </p:notesMasterIdLst>
  <p:sldIdLst>
    <p:sldId id="256" r:id="rId2"/>
    <p:sldId id="257" r:id="rId3"/>
    <p:sldId id="264" r:id="rId4"/>
    <p:sldId id="259" r:id="rId5"/>
    <p:sldId id="265" r:id="rId6"/>
    <p:sldId id="263" r:id="rId7"/>
    <p:sldId id="266" r:id="rId8"/>
    <p:sldId id="260" r:id="rId9"/>
    <p:sldId id="267" r:id="rId10"/>
    <p:sldId id="273" r:id="rId11"/>
    <p:sldId id="277" r:id="rId12"/>
    <p:sldId id="274" r:id="rId13"/>
    <p:sldId id="276" r:id="rId14"/>
    <p:sldId id="271" r:id="rId15"/>
    <p:sldId id="272" r:id="rId16"/>
    <p:sldId id="268" r:id="rId17"/>
    <p:sldId id="26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74" autoAdjust="0"/>
    <p:restoredTop sz="75839" autoAdjust="0"/>
  </p:normalViewPr>
  <p:slideViewPr>
    <p:cSldViewPr snapToGrid="0">
      <p:cViewPr>
        <p:scale>
          <a:sx n="66" d="100"/>
          <a:sy n="66" d="100"/>
        </p:scale>
        <p:origin x="32" y="7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837A6A-741F-422B-B6C4-75E3BA62974C}" type="datetimeFigureOut">
              <a:rPr kumimoji="1" lang="ja-JP" altLang="en-US" smtClean="0"/>
              <a:t>2025/7/14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D5E146-0631-4E8B-8DCF-72A5908A969B}" type="slidenum">
              <a:rPr kumimoji="1" lang="ja-JP" altLang="en-US" smtClean="0"/>
              <a:t>‹#›</a:t>
            </a:fld>
            <a:endParaRPr kumimoji="1" lang="ja-JP" altLang="en-US"/>
          </a:p>
        </p:txBody>
      </p:sp>
    </p:spTree>
    <p:extLst>
      <p:ext uri="{BB962C8B-B14F-4D97-AF65-F5344CB8AC3E}">
        <p14:creationId xmlns:p14="http://schemas.microsoft.com/office/powerpoint/2010/main" val="186821706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私たちのロボットは一台はアタッカーもう一台はゴールキーパーの役割をしています、</a:t>
            </a:r>
          </a:p>
        </p:txBody>
      </p:sp>
      <p:sp>
        <p:nvSpPr>
          <p:cNvPr id="4" name="スライド番号プレースホルダー 3"/>
          <p:cNvSpPr>
            <a:spLocks noGrp="1"/>
          </p:cNvSpPr>
          <p:nvPr>
            <p:ph type="sldNum" sz="quarter" idx="5"/>
          </p:nvPr>
        </p:nvSpPr>
        <p:spPr/>
        <p:txBody>
          <a:bodyPr/>
          <a:lstStyle/>
          <a:p>
            <a:fld id="{67D5E146-0631-4E8B-8DCF-72A5908A969B}" type="slidenum">
              <a:rPr kumimoji="1" lang="ja-JP" altLang="en-US" smtClean="0"/>
              <a:t>2</a:t>
            </a:fld>
            <a:endParaRPr kumimoji="1" lang="ja-JP" altLang="en-US"/>
          </a:p>
        </p:txBody>
      </p:sp>
    </p:spTree>
    <p:extLst>
      <p:ext uri="{BB962C8B-B14F-4D97-AF65-F5344CB8AC3E}">
        <p14:creationId xmlns:p14="http://schemas.microsoft.com/office/powerpoint/2010/main" val="98140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6FFAA-E3C3-CD13-8C82-6CCD1DF1B60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A6F7F06-7F7F-1674-292F-5AE9F364CDD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EB347D0-7374-421B-F2E1-AE2A8B198F18}"/>
              </a:ext>
            </a:extLst>
          </p:cNvPr>
          <p:cNvSpPr>
            <a:spLocks noGrp="1"/>
          </p:cNvSpPr>
          <p:nvPr>
            <p:ph type="body" idx="1"/>
          </p:nvPr>
        </p:nvSpPr>
        <p:spPr/>
        <p:txBody>
          <a:bodyPr/>
          <a:lstStyle/>
          <a:p>
            <a:r>
              <a:rPr kumimoji="1" lang="en-US" altLang="ja-JP" dirty="0"/>
              <a:t>One of our robots is an attacker and the other acts as a keeper.</a:t>
            </a:r>
            <a:endParaRPr kumimoji="1" lang="ja-JP" altLang="en-US" dirty="0"/>
          </a:p>
        </p:txBody>
      </p:sp>
      <p:sp>
        <p:nvSpPr>
          <p:cNvPr id="4" name="スライド番号プレースホルダー 3">
            <a:extLst>
              <a:ext uri="{FF2B5EF4-FFF2-40B4-BE49-F238E27FC236}">
                <a16:creationId xmlns:a16="http://schemas.microsoft.com/office/drawing/2014/main" id="{8D258956-39A1-89DB-3C13-AFCCA150250A}"/>
              </a:ext>
            </a:extLst>
          </p:cNvPr>
          <p:cNvSpPr>
            <a:spLocks noGrp="1"/>
          </p:cNvSpPr>
          <p:nvPr>
            <p:ph type="sldNum" sz="quarter" idx="5"/>
          </p:nvPr>
        </p:nvSpPr>
        <p:spPr/>
        <p:txBody>
          <a:bodyPr/>
          <a:lstStyle/>
          <a:p>
            <a:fld id="{67D5E146-0631-4E8B-8DCF-72A5908A969B}" type="slidenum">
              <a:rPr kumimoji="1" lang="ja-JP" altLang="en-US" smtClean="0"/>
              <a:t>3</a:t>
            </a:fld>
            <a:endParaRPr kumimoji="1" lang="ja-JP" altLang="en-US"/>
          </a:p>
        </p:txBody>
      </p:sp>
    </p:spTree>
    <p:extLst>
      <p:ext uri="{BB962C8B-B14F-4D97-AF65-F5344CB8AC3E}">
        <p14:creationId xmlns:p14="http://schemas.microsoft.com/office/powerpoint/2010/main" val="5508999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　　ゴールキーパーは円形のラインセンサを搭載しており、</a:t>
            </a:r>
          </a:p>
        </p:txBody>
      </p:sp>
      <p:sp>
        <p:nvSpPr>
          <p:cNvPr id="4" name="スライド番号プレースホルダー 3"/>
          <p:cNvSpPr>
            <a:spLocks noGrp="1"/>
          </p:cNvSpPr>
          <p:nvPr>
            <p:ph type="sldNum" sz="quarter" idx="5"/>
          </p:nvPr>
        </p:nvSpPr>
        <p:spPr/>
        <p:txBody>
          <a:bodyPr/>
          <a:lstStyle/>
          <a:p>
            <a:fld id="{67D5E146-0631-4E8B-8DCF-72A5908A969B}" type="slidenum">
              <a:rPr kumimoji="1" lang="ja-JP" altLang="en-US" smtClean="0"/>
              <a:t>4</a:t>
            </a:fld>
            <a:endParaRPr kumimoji="1" lang="ja-JP" altLang="en-US"/>
          </a:p>
        </p:txBody>
      </p:sp>
    </p:spTree>
    <p:extLst>
      <p:ext uri="{BB962C8B-B14F-4D97-AF65-F5344CB8AC3E}">
        <p14:creationId xmlns:p14="http://schemas.microsoft.com/office/powerpoint/2010/main" val="36045382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A67F1-7C60-E840-07D7-27142BC4159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7FF875D-2281-CBB7-31BE-5FC96AFF17E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2D354F6-53E2-471B-AC2C-ECC2FC5AB3CB}"/>
              </a:ext>
            </a:extLst>
          </p:cNvPr>
          <p:cNvSpPr>
            <a:spLocks noGrp="1"/>
          </p:cNvSpPr>
          <p:nvPr>
            <p:ph type="body" idx="1"/>
          </p:nvPr>
        </p:nvSpPr>
        <p:spPr/>
        <p:txBody>
          <a:bodyPr/>
          <a:lstStyle/>
          <a:p>
            <a:r>
              <a:rPr kumimoji="1" lang="en-US" altLang="ja-JP" dirty="0"/>
              <a:t>The keeper is equipped with  a circular line sensor</a:t>
            </a:r>
            <a:endParaRPr kumimoji="1" lang="ja-JP" altLang="en-US" dirty="0"/>
          </a:p>
        </p:txBody>
      </p:sp>
      <p:sp>
        <p:nvSpPr>
          <p:cNvPr id="4" name="スライド番号プレースホルダー 3">
            <a:extLst>
              <a:ext uri="{FF2B5EF4-FFF2-40B4-BE49-F238E27FC236}">
                <a16:creationId xmlns:a16="http://schemas.microsoft.com/office/drawing/2014/main" id="{120A1C07-6DB6-67F4-48DE-8FC3AEC576C3}"/>
              </a:ext>
            </a:extLst>
          </p:cNvPr>
          <p:cNvSpPr>
            <a:spLocks noGrp="1"/>
          </p:cNvSpPr>
          <p:nvPr>
            <p:ph type="sldNum" sz="quarter" idx="5"/>
          </p:nvPr>
        </p:nvSpPr>
        <p:spPr/>
        <p:txBody>
          <a:bodyPr/>
          <a:lstStyle/>
          <a:p>
            <a:fld id="{67D5E146-0631-4E8B-8DCF-72A5908A969B}" type="slidenum">
              <a:rPr kumimoji="1" lang="ja-JP" altLang="en-US" smtClean="0"/>
              <a:t>5</a:t>
            </a:fld>
            <a:endParaRPr kumimoji="1" lang="ja-JP" altLang="en-US"/>
          </a:p>
        </p:txBody>
      </p:sp>
    </p:spTree>
    <p:extLst>
      <p:ext uri="{BB962C8B-B14F-4D97-AF65-F5344CB8AC3E}">
        <p14:creationId xmlns:p14="http://schemas.microsoft.com/office/powerpoint/2010/main" val="5605195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　ゴールの白線上に沿って自陣ゴールを守っています。</a:t>
            </a:r>
          </a:p>
        </p:txBody>
      </p:sp>
      <p:sp>
        <p:nvSpPr>
          <p:cNvPr id="4" name="スライド番号プレースホルダー 3"/>
          <p:cNvSpPr>
            <a:spLocks noGrp="1"/>
          </p:cNvSpPr>
          <p:nvPr>
            <p:ph type="sldNum" sz="quarter" idx="5"/>
          </p:nvPr>
        </p:nvSpPr>
        <p:spPr/>
        <p:txBody>
          <a:bodyPr/>
          <a:lstStyle/>
          <a:p>
            <a:fld id="{67D5E146-0631-4E8B-8DCF-72A5908A969B}" type="slidenum">
              <a:rPr kumimoji="1" lang="ja-JP" altLang="en-US" smtClean="0"/>
              <a:t>6</a:t>
            </a:fld>
            <a:endParaRPr kumimoji="1" lang="ja-JP" altLang="en-US"/>
          </a:p>
        </p:txBody>
      </p:sp>
    </p:spTree>
    <p:extLst>
      <p:ext uri="{BB962C8B-B14F-4D97-AF65-F5344CB8AC3E}">
        <p14:creationId xmlns:p14="http://schemas.microsoft.com/office/powerpoint/2010/main" val="268716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B52CE-A161-64FD-1F21-2E4232AD5CA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EEBD6DE-0DC0-2EE9-7AD2-EEF66FFCE39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0840FC2-F0B1-A0ED-A618-59D50F7D62BC}"/>
              </a:ext>
            </a:extLst>
          </p:cNvPr>
          <p:cNvSpPr>
            <a:spLocks noGrp="1"/>
          </p:cNvSpPr>
          <p:nvPr>
            <p:ph type="body" idx="1"/>
          </p:nvPr>
        </p:nvSpPr>
        <p:spPr/>
        <p:txBody>
          <a:bodyPr/>
          <a:lstStyle/>
          <a:p>
            <a:r>
              <a:rPr kumimoji="1" lang="en-US" altLang="ja-JP" dirty="0"/>
              <a:t>and protects our goal along the white line in front of the goal.</a:t>
            </a:r>
          </a:p>
          <a:p>
            <a:endParaRPr kumimoji="1" lang="ja-JP" altLang="en-US" dirty="0"/>
          </a:p>
        </p:txBody>
      </p:sp>
      <p:sp>
        <p:nvSpPr>
          <p:cNvPr id="4" name="スライド番号プレースホルダー 3">
            <a:extLst>
              <a:ext uri="{FF2B5EF4-FFF2-40B4-BE49-F238E27FC236}">
                <a16:creationId xmlns:a16="http://schemas.microsoft.com/office/drawing/2014/main" id="{5F945247-B89F-5B33-58D0-D0ECB2E57332}"/>
              </a:ext>
            </a:extLst>
          </p:cNvPr>
          <p:cNvSpPr>
            <a:spLocks noGrp="1"/>
          </p:cNvSpPr>
          <p:nvPr>
            <p:ph type="sldNum" sz="quarter" idx="5"/>
          </p:nvPr>
        </p:nvSpPr>
        <p:spPr/>
        <p:txBody>
          <a:bodyPr/>
          <a:lstStyle/>
          <a:p>
            <a:fld id="{67D5E146-0631-4E8B-8DCF-72A5908A969B}" type="slidenum">
              <a:rPr kumimoji="1" lang="ja-JP" altLang="en-US" smtClean="0"/>
              <a:t>7</a:t>
            </a:fld>
            <a:endParaRPr kumimoji="1" lang="ja-JP" altLang="en-US"/>
          </a:p>
        </p:txBody>
      </p:sp>
    </p:spTree>
    <p:extLst>
      <p:ext uri="{BB962C8B-B14F-4D97-AF65-F5344CB8AC3E}">
        <p14:creationId xmlns:p14="http://schemas.microsoft.com/office/powerpoint/2010/main" val="31751737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 </a:t>
            </a:r>
            <a:r>
              <a:rPr kumimoji="1" lang="ja-JP" altLang="en-US" dirty="0"/>
              <a:t>アタッカーは、ラインセンサを満遍なく搭載することで、アウトオブバウンズの回数が減り、今までより速く移動することができました。</a:t>
            </a:r>
          </a:p>
        </p:txBody>
      </p:sp>
      <p:sp>
        <p:nvSpPr>
          <p:cNvPr id="4" name="スライド番号プレースホルダー 3"/>
          <p:cNvSpPr>
            <a:spLocks noGrp="1"/>
          </p:cNvSpPr>
          <p:nvPr>
            <p:ph type="sldNum" sz="quarter" idx="5"/>
          </p:nvPr>
        </p:nvSpPr>
        <p:spPr/>
        <p:txBody>
          <a:bodyPr/>
          <a:lstStyle/>
          <a:p>
            <a:fld id="{67D5E146-0631-4E8B-8DCF-72A5908A969B}" type="slidenum">
              <a:rPr kumimoji="1" lang="ja-JP" altLang="en-US" smtClean="0"/>
              <a:t>8</a:t>
            </a:fld>
            <a:endParaRPr kumimoji="1" lang="ja-JP" altLang="en-US"/>
          </a:p>
        </p:txBody>
      </p:sp>
    </p:spTree>
    <p:extLst>
      <p:ext uri="{BB962C8B-B14F-4D97-AF65-F5344CB8AC3E}">
        <p14:creationId xmlns:p14="http://schemas.microsoft.com/office/powerpoint/2010/main" val="3771515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Attacker have reduced the number of out of bounds by installing a line sensor evenly, allowing them to move faster than ever before. </a:t>
            </a:r>
            <a:endParaRPr kumimoji="1" lang="ja-JP" altLang="en-US" dirty="0"/>
          </a:p>
        </p:txBody>
      </p:sp>
      <p:sp>
        <p:nvSpPr>
          <p:cNvPr id="4" name="スライド番号プレースホルダー 3"/>
          <p:cNvSpPr>
            <a:spLocks noGrp="1"/>
          </p:cNvSpPr>
          <p:nvPr>
            <p:ph type="sldNum" sz="quarter" idx="5"/>
          </p:nvPr>
        </p:nvSpPr>
        <p:spPr/>
        <p:txBody>
          <a:bodyPr/>
          <a:lstStyle/>
          <a:p>
            <a:fld id="{67D5E146-0631-4E8B-8DCF-72A5908A969B}" type="slidenum">
              <a:rPr kumimoji="1" lang="ja-JP" altLang="en-US" smtClean="0"/>
              <a:t>9</a:t>
            </a:fld>
            <a:endParaRPr kumimoji="1" lang="ja-JP" altLang="en-US"/>
          </a:p>
        </p:txBody>
      </p:sp>
    </p:spTree>
    <p:extLst>
      <p:ext uri="{BB962C8B-B14F-4D97-AF65-F5344CB8AC3E}">
        <p14:creationId xmlns:p14="http://schemas.microsoft.com/office/powerpoint/2010/main" val="29548315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全国大会で使用したロボットは</a:t>
            </a:r>
            <a:r>
              <a:rPr kumimoji="1" lang="en-US" altLang="ja-JP" dirty="0"/>
              <a:t>IR</a:t>
            </a:r>
            <a:r>
              <a:rPr kumimoji="1" lang="ja-JP" altLang="en-US" dirty="0"/>
              <a:t>センサーボードと</a:t>
            </a:r>
            <a:r>
              <a:rPr kumimoji="1" lang="en-US" altLang="ja-JP" dirty="0" err="1"/>
              <a:t>OpenMV</a:t>
            </a:r>
            <a:r>
              <a:rPr kumimoji="1" lang="ja-JP" altLang="en-US" dirty="0"/>
              <a:t>の基板を別々に作っていましたが一つにまとめてしまうことで取り外しが楽になりました</a:t>
            </a:r>
          </a:p>
        </p:txBody>
      </p:sp>
      <p:sp>
        <p:nvSpPr>
          <p:cNvPr id="4" name="スライド番号プレースホルダー 3"/>
          <p:cNvSpPr>
            <a:spLocks noGrp="1"/>
          </p:cNvSpPr>
          <p:nvPr>
            <p:ph type="sldNum" sz="quarter" idx="5"/>
          </p:nvPr>
        </p:nvSpPr>
        <p:spPr/>
        <p:txBody>
          <a:bodyPr/>
          <a:lstStyle/>
          <a:p>
            <a:fld id="{67D5E146-0631-4E8B-8DCF-72A5908A969B}" type="slidenum">
              <a:rPr kumimoji="1" lang="ja-JP" altLang="en-US" smtClean="0"/>
              <a:t>12</a:t>
            </a:fld>
            <a:endParaRPr kumimoji="1" lang="ja-JP" altLang="en-US"/>
          </a:p>
        </p:txBody>
      </p:sp>
    </p:spTree>
    <p:extLst>
      <p:ext uri="{BB962C8B-B14F-4D97-AF65-F5344CB8AC3E}">
        <p14:creationId xmlns:p14="http://schemas.microsoft.com/office/powerpoint/2010/main" val="34907578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E0A0E-D5F1-4A8D-B649-19FA12EC311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3AF816B-8F5B-0A4E-DC5B-2D4C920C0F9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C323F93-A2EB-F4B2-DF07-5F6D09FA027E}"/>
              </a:ext>
            </a:extLst>
          </p:cNvPr>
          <p:cNvSpPr>
            <a:spLocks noGrp="1"/>
          </p:cNvSpPr>
          <p:nvPr>
            <p:ph type="body" idx="1"/>
          </p:nvPr>
        </p:nvSpPr>
        <p:spPr/>
        <p:txBody>
          <a:bodyPr/>
          <a:lstStyle/>
          <a:p>
            <a:r>
              <a:rPr kumimoji="1" lang="en-US" altLang="ja-JP" dirty="0"/>
              <a:t>The robots used in the national competition used the </a:t>
            </a:r>
            <a:r>
              <a:rPr kumimoji="1" lang="en-US" altLang="ja-JP" dirty="0" err="1"/>
              <a:t>IRsensor</a:t>
            </a:r>
            <a:r>
              <a:rPr kumimoji="1" lang="en-US" altLang="ja-JP" dirty="0"/>
              <a:t> Board and the </a:t>
            </a:r>
            <a:r>
              <a:rPr kumimoji="1" lang="en-US" altLang="ja-JP" dirty="0" err="1"/>
              <a:t>OpenMV</a:t>
            </a:r>
            <a:r>
              <a:rPr kumimoji="1" lang="en-US" altLang="ja-JP" dirty="0"/>
              <a:t> on separate but it’s easier to remove by putting one together</a:t>
            </a:r>
            <a:endParaRPr kumimoji="1" lang="ja-JP" altLang="en-US" dirty="0"/>
          </a:p>
        </p:txBody>
      </p:sp>
      <p:sp>
        <p:nvSpPr>
          <p:cNvPr id="4" name="スライド番号プレースホルダー 3">
            <a:extLst>
              <a:ext uri="{FF2B5EF4-FFF2-40B4-BE49-F238E27FC236}">
                <a16:creationId xmlns:a16="http://schemas.microsoft.com/office/drawing/2014/main" id="{D0D2DC96-5E96-09C8-2DD8-64F2CFA4E138}"/>
              </a:ext>
            </a:extLst>
          </p:cNvPr>
          <p:cNvSpPr>
            <a:spLocks noGrp="1"/>
          </p:cNvSpPr>
          <p:nvPr>
            <p:ph type="sldNum" sz="quarter" idx="5"/>
          </p:nvPr>
        </p:nvSpPr>
        <p:spPr/>
        <p:txBody>
          <a:bodyPr/>
          <a:lstStyle/>
          <a:p>
            <a:fld id="{67D5E146-0631-4E8B-8DCF-72A5908A969B}" type="slidenum">
              <a:rPr kumimoji="1" lang="ja-JP" altLang="en-US" smtClean="0"/>
              <a:t>13</a:t>
            </a:fld>
            <a:endParaRPr kumimoji="1" lang="ja-JP" altLang="en-US"/>
          </a:p>
        </p:txBody>
      </p:sp>
    </p:spTree>
    <p:extLst>
      <p:ext uri="{BB962C8B-B14F-4D97-AF65-F5344CB8AC3E}">
        <p14:creationId xmlns:p14="http://schemas.microsoft.com/office/powerpoint/2010/main" val="10609159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LCD</a:t>
            </a:r>
            <a:r>
              <a:rPr kumimoji="1" lang="ja-JP" altLang="en-US" dirty="0"/>
              <a:t>モニターを搭載することでロボットのセンサの値を表示して、デバックを簡単に行うことができます</a:t>
            </a:r>
            <a:endParaRPr kumimoji="1" lang="en-US" altLang="ja-JP" dirty="0"/>
          </a:p>
        </p:txBody>
      </p:sp>
      <p:sp>
        <p:nvSpPr>
          <p:cNvPr id="4" name="スライド番号プレースホルダー 3"/>
          <p:cNvSpPr>
            <a:spLocks noGrp="1"/>
          </p:cNvSpPr>
          <p:nvPr>
            <p:ph type="sldNum" sz="quarter" idx="5"/>
          </p:nvPr>
        </p:nvSpPr>
        <p:spPr/>
        <p:txBody>
          <a:bodyPr/>
          <a:lstStyle/>
          <a:p>
            <a:fld id="{67D5E146-0631-4E8B-8DCF-72A5908A969B}" type="slidenum">
              <a:rPr kumimoji="1" lang="ja-JP" altLang="en-US" smtClean="0"/>
              <a:t>16</a:t>
            </a:fld>
            <a:endParaRPr kumimoji="1" lang="ja-JP" altLang="en-US"/>
          </a:p>
        </p:txBody>
      </p:sp>
    </p:spTree>
    <p:extLst>
      <p:ext uri="{BB962C8B-B14F-4D97-AF65-F5344CB8AC3E}">
        <p14:creationId xmlns:p14="http://schemas.microsoft.com/office/powerpoint/2010/main" val="9818811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5BE0F-ACD8-E597-6488-0E3706D5FF6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B7118DA-2176-09C1-E67C-7D9DFEBB7E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4F8B426-3E36-AAC4-2681-0001763D604F}"/>
              </a:ext>
            </a:extLst>
          </p:cNvPr>
          <p:cNvSpPr>
            <a:spLocks noGrp="1"/>
          </p:cNvSpPr>
          <p:nvPr>
            <p:ph type="body" idx="1"/>
          </p:nvPr>
        </p:nvSpPr>
        <p:spPr/>
        <p:txBody>
          <a:bodyPr/>
          <a:lstStyle/>
          <a:p>
            <a:r>
              <a:rPr kumimoji="1" lang="ja-JP" altLang="en-US" dirty="0"/>
              <a:t>　</a:t>
            </a:r>
            <a:r>
              <a:rPr kumimoji="1" lang="en-US" altLang="ja-JP" dirty="0"/>
              <a:t>By installing the LCD screen, we can easily debug by displaying the values of the robot’s screens.</a:t>
            </a:r>
          </a:p>
        </p:txBody>
      </p:sp>
      <p:sp>
        <p:nvSpPr>
          <p:cNvPr id="4" name="スライド番号プレースホルダー 3">
            <a:extLst>
              <a:ext uri="{FF2B5EF4-FFF2-40B4-BE49-F238E27FC236}">
                <a16:creationId xmlns:a16="http://schemas.microsoft.com/office/drawing/2014/main" id="{6DFECB86-2A58-66A5-8D7E-DEBE220E5B18}"/>
              </a:ext>
            </a:extLst>
          </p:cNvPr>
          <p:cNvSpPr>
            <a:spLocks noGrp="1"/>
          </p:cNvSpPr>
          <p:nvPr>
            <p:ph type="sldNum" sz="quarter" idx="5"/>
          </p:nvPr>
        </p:nvSpPr>
        <p:spPr/>
        <p:txBody>
          <a:bodyPr/>
          <a:lstStyle/>
          <a:p>
            <a:fld id="{67D5E146-0631-4E8B-8DCF-72A5908A969B}" type="slidenum">
              <a:rPr kumimoji="1" lang="ja-JP" altLang="en-US" smtClean="0"/>
              <a:t>17</a:t>
            </a:fld>
            <a:endParaRPr kumimoji="1" lang="ja-JP" altLang="en-US"/>
          </a:p>
        </p:txBody>
      </p:sp>
    </p:spTree>
    <p:extLst>
      <p:ext uri="{BB962C8B-B14F-4D97-AF65-F5344CB8AC3E}">
        <p14:creationId xmlns:p14="http://schemas.microsoft.com/office/powerpoint/2010/main" val="4122974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C764DE79-268F-4C1A-8933-263129D2AF90}" type="datetimeFigureOut">
              <a:rPr lang="en-US" dirty="0"/>
              <a:t>7/14/2025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7/14/2025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7/14/2025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7/14/2025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7/14/2025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764DE79-268F-4C1A-8933-263129D2AF90}" type="datetimeFigureOut">
              <a:rPr lang="en-US" dirty="0"/>
              <a:t>7/14/2025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764DE79-268F-4C1A-8933-263129D2AF90}" type="datetimeFigureOut">
              <a:rPr lang="en-US" dirty="0"/>
              <a:t>7/14/2025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7/14/2025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244D4B1-F568-954F-3563-20DFE701F581}"/>
              </a:ext>
            </a:extLst>
          </p:cNvPr>
          <p:cNvSpPr>
            <a:spLocks noGrp="1"/>
          </p:cNvSpPr>
          <p:nvPr>
            <p:ph type="ctrTitle"/>
          </p:nvPr>
        </p:nvSpPr>
        <p:spPr/>
        <p:txBody>
          <a:bodyPr>
            <a:normAutofit fontScale="90000"/>
          </a:bodyPr>
          <a:lstStyle/>
          <a:p>
            <a:r>
              <a:rPr kumimoji="1" lang="ja-JP" altLang="en-US" dirty="0"/>
              <a:t>スライド</a:t>
            </a:r>
            <a:br>
              <a:rPr kumimoji="1" lang="en-US" altLang="ja-JP" dirty="0"/>
            </a:br>
            <a:r>
              <a:rPr kumimoji="1" lang="ja-JP" altLang="en-US" dirty="0"/>
              <a:t>全国のロボット紹介</a:t>
            </a:r>
            <a:br>
              <a:rPr kumimoji="1" lang="en-US" altLang="ja-JP" dirty="0"/>
            </a:br>
            <a:r>
              <a:rPr kumimoji="1" lang="en-US" altLang="ja-JP" dirty="0"/>
              <a:t>OLED</a:t>
            </a:r>
            <a:r>
              <a:rPr kumimoji="1" lang="ja-JP" altLang="en-US" dirty="0"/>
              <a:t>ディスプレイについて</a:t>
            </a:r>
          </a:p>
        </p:txBody>
      </p:sp>
      <p:sp>
        <p:nvSpPr>
          <p:cNvPr id="3" name="字幕 2">
            <a:extLst>
              <a:ext uri="{FF2B5EF4-FFF2-40B4-BE49-F238E27FC236}">
                <a16:creationId xmlns:a16="http://schemas.microsoft.com/office/drawing/2014/main" id="{72D180CF-0F54-9693-7256-DA8E193BAD21}"/>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3974410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0EBA1C-1CA2-1AC2-1C95-29F4B1254DCA}"/>
              </a:ext>
            </a:extLst>
          </p:cNvPr>
          <p:cNvSpPr>
            <a:spLocks noGrp="1"/>
          </p:cNvSpPr>
          <p:nvPr>
            <p:ph type="title"/>
          </p:nvPr>
        </p:nvSpPr>
        <p:spPr>
          <a:xfrm>
            <a:off x="86360" y="0"/>
            <a:ext cx="7005320" cy="772159"/>
          </a:xfrm>
        </p:spPr>
        <p:txBody>
          <a:bodyPr>
            <a:normAutofit/>
          </a:bodyPr>
          <a:lstStyle/>
          <a:p>
            <a:r>
              <a:rPr kumimoji="1" lang="ja-JP" altLang="en-US" sz="4800" b="1" dirty="0">
                <a:latin typeface="+mn-ea"/>
                <a:ea typeface="+mn-ea"/>
              </a:rPr>
              <a:t>全国大会のロボット</a:t>
            </a:r>
          </a:p>
        </p:txBody>
      </p:sp>
      <p:pic>
        <p:nvPicPr>
          <p:cNvPr id="5" name="コンテンツ プレースホルダー 4">
            <a:extLst>
              <a:ext uri="{FF2B5EF4-FFF2-40B4-BE49-F238E27FC236}">
                <a16:creationId xmlns:a16="http://schemas.microsoft.com/office/drawing/2014/main" id="{C30904A6-D9D3-4285-CF6D-3E726CD9F616}"/>
              </a:ext>
            </a:extLst>
          </p:cNvPr>
          <p:cNvPicPr>
            <a:picLocks noGrp="1" noChangeAspect="1"/>
          </p:cNvPicPr>
          <p:nvPr>
            <p:ph idx="1"/>
          </p:nvPr>
        </p:nvPicPr>
        <p:blipFill>
          <a:blip r:embed="rId3"/>
          <a:srcRect l="7606" t="9780" r="38510" b="48728"/>
          <a:stretch>
            <a:fillRect/>
          </a:stretch>
        </p:blipFill>
        <p:spPr>
          <a:xfrm>
            <a:off x="1259840" y="772159"/>
            <a:ext cx="9057972" cy="5232400"/>
          </a:xfrm>
        </p:spPr>
      </p:pic>
      <p:sp>
        <p:nvSpPr>
          <p:cNvPr id="10" name="テキスト ボックス 9">
            <a:extLst>
              <a:ext uri="{FF2B5EF4-FFF2-40B4-BE49-F238E27FC236}">
                <a16:creationId xmlns:a16="http://schemas.microsoft.com/office/drawing/2014/main" id="{88093FC0-09F1-F40E-FF7B-4508C8DE454D}"/>
              </a:ext>
            </a:extLst>
          </p:cNvPr>
          <p:cNvSpPr txBox="1"/>
          <p:nvPr/>
        </p:nvSpPr>
        <p:spPr>
          <a:xfrm>
            <a:off x="2905760" y="6183483"/>
            <a:ext cx="2580640" cy="584775"/>
          </a:xfrm>
          <a:prstGeom prst="rect">
            <a:avLst/>
          </a:prstGeom>
          <a:noFill/>
        </p:spPr>
        <p:txBody>
          <a:bodyPr wrap="square" rtlCol="0">
            <a:spAutoFit/>
          </a:bodyPr>
          <a:lstStyle/>
          <a:p>
            <a:r>
              <a:rPr kumimoji="1" lang="ja-JP" altLang="en-US" sz="3200" b="1" dirty="0"/>
              <a:t>↑キーパー</a:t>
            </a:r>
          </a:p>
        </p:txBody>
      </p:sp>
      <p:sp>
        <p:nvSpPr>
          <p:cNvPr id="11" name="テキスト ボックス 10">
            <a:extLst>
              <a:ext uri="{FF2B5EF4-FFF2-40B4-BE49-F238E27FC236}">
                <a16:creationId xmlns:a16="http://schemas.microsoft.com/office/drawing/2014/main" id="{E6EEB593-122E-59C0-A52B-32B443B76D64}"/>
              </a:ext>
            </a:extLst>
          </p:cNvPr>
          <p:cNvSpPr txBox="1"/>
          <p:nvPr/>
        </p:nvSpPr>
        <p:spPr>
          <a:xfrm>
            <a:off x="7467600" y="6183483"/>
            <a:ext cx="2580640" cy="584775"/>
          </a:xfrm>
          <a:prstGeom prst="rect">
            <a:avLst/>
          </a:prstGeom>
          <a:noFill/>
        </p:spPr>
        <p:txBody>
          <a:bodyPr wrap="square" rtlCol="0">
            <a:spAutoFit/>
          </a:bodyPr>
          <a:lstStyle/>
          <a:p>
            <a:r>
              <a:rPr kumimoji="1" lang="ja-JP" altLang="en-US" sz="3200" b="1" dirty="0"/>
              <a:t>↑アタッカー</a:t>
            </a:r>
          </a:p>
        </p:txBody>
      </p:sp>
    </p:spTree>
    <p:extLst>
      <p:ext uri="{BB962C8B-B14F-4D97-AF65-F5344CB8AC3E}">
        <p14:creationId xmlns:p14="http://schemas.microsoft.com/office/powerpoint/2010/main" val="3227720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F7CD9-8DE2-CB69-E26B-517C3FA2EF4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DDE0990-CDB1-7208-79BB-7746B4BB27BB}"/>
              </a:ext>
            </a:extLst>
          </p:cNvPr>
          <p:cNvSpPr>
            <a:spLocks noGrp="1"/>
          </p:cNvSpPr>
          <p:nvPr>
            <p:ph type="title"/>
          </p:nvPr>
        </p:nvSpPr>
        <p:spPr>
          <a:xfrm>
            <a:off x="86360" y="0"/>
            <a:ext cx="9311640" cy="772159"/>
          </a:xfrm>
        </p:spPr>
        <p:txBody>
          <a:bodyPr>
            <a:normAutofit fontScale="90000"/>
          </a:bodyPr>
          <a:lstStyle/>
          <a:p>
            <a:r>
              <a:rPr kumimoji="1" lang="en-US" altLang="ja-JP" sz="4800" b="1" dirty="0"/>
              <a:t>Our team’s National</a:t>
            </a:r>
            <a:r>
              <a:rPr lang="ja-JP" altLang="en-US" sz="4800" b="1" dirty="0"/>
              <a:t> </a:t>
            </a:r>
            <a:r>
              <a:rPr lang="en-US" altLang="ja-JP" sz="4800" b="1" dirty="0"/>
              <a:t>tournament robots</a:t>
            </a:r>
            <a:endParaRPr kumimoji="1" lang="ja-JP" altLang="en-US" sz="4800" b="1" dirty="0"/>
          </a:p>
        </p:txBody>
      </p:sp>
      <p:pic>
        <p:nvPicPr>
          <p:cNvPr id="5" name="コンテンツ プレースホルダー 4">
            <a:extLst>
              <a:ext uri="{FF2B5EF4-FFF2-40B4-BE49-F238E27FC236}">
                <a16:creationId xmlns:a16="http://schemas.microsoft.com/office/drawing/2014/main" id="{BC1357BB-C632-5289-6150-1881082F729B}"/>
              </a:ext>
            </a:extLst>
          </p:cNvPr>
          <p:cNvPicPr>
            <a:picLocks noGrp="1" noChangeAspect="1"/>
          </p:cNvPicPr>
          <p:nvPr>
            <p:ph idx="1"/>
          </p:nvPr>
        </p:nvPicPr>
        <p:blipFill>
          <a:blip r:embed="rId3"/>
          <a:srcRect l="7606" t="9780" r="38510" b="48728"/>
          <a:stretch>
            <a:fillRect/>
          </a:stretch>
        </p:blipFill>
        <p:spPr>
          <a:xfrm>
            <a:off x="1259840" y="772159"/>
            <a:ext cx="9057972" cy="5232400"/>
          </a:xfrm>
        </p:spPr>
      </p:pic>
      <p:sp>
        <p:nvSpPr>
          <p:cNvPr id="10" name="テキスト ボックス 9">
            <a:extLst>
              <a:ext uri="{FF2B5EF4-FFF2-40B4-BE49-F238E27FC236}">
                <a16:creationId xmlns:a16="http://schemas.microsoft.com/office/drawing/2014/main" id="{BB1A0BB1-C2D4-8E00-9CAB-D33A72399CBA}"/>
              </a:ext>
            </a:extLst>
          </p:cNvPr>
          <p:cNvSpPr txBox="1"/>
          <p:nvPr/>
        </p:nvSpPr>
        <p:spPr>
          <a:xfrm>
            <a:off x="2905760" y="6183483"/>
            <a:ext cx="2580640" cy="584775"/>
          </a:xfrm>
          <a:prstGeom prst="rect">
            <a:avLst/>
          </a:prstGeom>
          <a:noFill/>
        </p:spPr>
        <p:txBody>
          <a:bodyPr wrap="square" rtlCol="0">
            <a:spAutoFit/>
          </a:bodyPr>
          <a:lstStyle/>
          <a:p>
            <a:r>
              <a:rPr kumimoji="1" lang="ja-JP" altLang="en-US" sz="3200" b="1" dirty="0"/>
              <a:t>↑</a:t>
            </a:r>
            <a:r>
              <a:rPr kumimoji="1" lang="en-US" altLang="ja-JP" sz="3200" b="1" dirty="0"/>
              <a:t>keeper</a:t>
            </a:r>
            <a:endParaRPr kumimoji="1" lang="ja-JP" altLang="en-US" sz="3200" b="1" dirty="0"/>
          </a:p>
        </p:txBody>
      </p:sp>
      <p:sp>
        <p:nvSpPr>
          <p:cNvPr id="11" name="テキスト ボックス 10">
            <a:extLst>
              <a:ext uri="{FF2B5EF4-FFF2-40B4-BE49-F238E27FC236}">
                <a16:creationId xmlns:a16="http://schemas.microsoft.com/office/drawing/2014/main" id="{9E97E4E9-DB52-F478-7AB2-D47183636BB1}"/>
              </a:ext>
            </a:extLst>
          </p:cNvPr>
          <p:cNvSpPr txBox="1"/>
          <p:nvPr/>
        </p:nvSpPr>
        <p:spPr>
          <a:xfrm>
            <a:off x="7467600" y="6183483"/>
            <a:ext cx="2580640" cy="584775"/>
          </a:xfrm>
          <a:prstGeom prst="rect">
            <a:avLst/>
          </a:prstGeom>
          <a:noFill/>
        </p:spPr>
        <p:txBody>
          <a:bodyPr wrap="square" rtlCol="0">
            <a:spAutoFit/>
          </a:bodyPr>
          <a:lstStyle/>
          <a:p>
            <a:r>
              <a:rPr kumimoji="1" lang="ja-JP" altLang="en-US" sz="3200" b="1" dirty="0"/>
              <a:t>↑</a:t>
            </a:r>
            <a:r>
              <a:rPr kumimoji="1" lang="en-US" altLang="ja-JP" sz="3200" b="1" dirty="0"/>
              <a:t>attacker</a:t>
            </a:r>
            <a:endParaRPr kumimoji="1" lang="ja-JP" altLang="en-US" sz="3200" b="1" dirty="0"/>
          </a:p>
        </p:txBody>
      </p:sp>
    </p:spTree>
    <p:extLst>
      <p:ext uri="{BB962C8B-B14F-4D97-AF65-F5344CB8AC3E}">
        <p14:creationId xmlns:p14="http://schemas.microsoft.com/office/powerpoint/2010/main" val="3130297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F479FC6D-5D24-89D3-9A99-36AABA87AAD0}"/>
              </a:ext>
            </a:extLst>
          </p:cNvPr>
          <p:cNvSpPr>
            <a:spLocks noGrp="1"/>
          </p:cNvSpPr>
          <p:nvPr>
            <p:ph type="body" idx="1"/>
          </p:nvPr>
        </p:nvSpPr>
        <p:spPr>
          <a:xfrm>
            <a:off x="6390640" y="1026160"/>
            <a:ext cx="4450080" cy="589281"/>
          </a:xfrm>
        </p:spPr>
        <p:txBody>
          <a:bodyPr>
            <a:noAutofit/>
          </a:bodyPr>
          <a:lstStyle/>
          <a:p>
            <a:r>
              <a:rPr kumimoji="1" lang="ja-JP" altLang="en-US" sz="4000" b="1" dirty="0">
                <a:solidFill>
                  <a:schemeClr val="tx1">
                    <a:lumMod val="95000"/>
                    <a:lumOff val="5000"/>
                  </a:schemeClr>
                </a:solidFill>
              </a:rPr>
              <a:t>円形ラインセンサ</a:t>
            </a:r>
          </a:p>
        </p:txBody>
      </p:sp>
      <p:pic>
        <p:nvPicPr>
          <p:cNvPr id="7" name="図 6">
            <a:extLst>
              <a:ext uri="{FF2B5EF4-FFF2-40B4-BE49-F238E27FC236}">
                <a16:creationId xmlns:a16="http://schemas.microsoft.com/office/drawing/2014/main" id="{8E78510E-E8E2-E7C8-D5B3-2F9ED8920957}"/>
              </a:ext>
            </a:extLst>
          </p:cNvPr>
          <p:cNvPicPr>
            <a:picLocks noChangeAspect="1"/>
          </p:cNvPicPr>
          <p:nvPr/>
        </p:nvPicPr>
        <p:blipFill>
          <a:blip r:embed="rId3"/>
          <a:stretch>
            <a:fillRect/>
          </a:stretch>
        </p:blipFill>
        <p:spPr>
          <a:xfrm>
            <a:off x="5420359" y="1767840"/>
            <a:ext cx="6680201" cy="5010150"/>
          </a:xfrm>
          <a:prstGeom prst="rect">
            <a:avLst/>
          </a:prstGeom>
        </p:spPr>
      </p:pic>
      <p:pic>
        <p:nvPicPr>
          <p:cNvPr id="8" name="図 7">
            <a:extLst>
              <a:ext uri="{FF2B5EF4-FFF2-40B4-BE49-F238E27FC236}">
                <a16:creationId xmlns:a16="http://schemas.microsoft.com/office/drawing/2014/main" id="{39A64D86-7D33-6542-9E76-71BA636A981A}"/>
              </a:ext>
            </a:extLst>
          </p:cNvPr>
          <p:cNvPicPr>
            <a:picLocks noChangeAspect="1"/>
          </p:cNvPicPr>
          <p:nvPr/>
        </p:nvPicPr>
        <p:blipFill>
          <a:blip r:embed="rId4"/>
          <a:srcRect l="27927" t="2576" r="18853" b="7728"/>
          <a:stretch>
            <a:fillRect/>
          </a:stretch>
        </p:blipFill>
        <p:spPr>
          <a:xfrm>
            <a:off x="467360" y="1026160"/>
            <a:ext cx="4551680" cy="5753442"/>
          </a:xfrm>
          <a:prstGeom prst="rect">
            <a:avLst/>
          </a:prstGeom>
        </p:spPr>
      </p:pic>
      <p:sp>
        <p:nvSpPr>
          <p:cNvPr id="11" name="テキスト プレースホルダー 2">
            <a:extLst>
              <a:ext uri="{FF2B5EF4-FFF2-40B4-BE49-F238E27FC236}">
                <a16:creationId xmlns:a16="http://schemas.microsoft.com/office/drawing/2014/main" id="{9C638C58-384A-3280-4936-7F555CEC4F0C}"/>
              </a:ext>
            </a:extLst>
          </p:cNvPr>
          <p:cNvSpPr txBox="1">
            <a:spLocks/>
          </p:cNvSpPr>
          <p:nvPr/>
        </p:nvSpPr>
        <p:spPr>
          <a:xfrm>
            <a:off x="751840" y="345440"/>
            <a:ext cx="4155440" cy="58928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kumimoji="1"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kumimoji="1"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kumimoji="1"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kumimoji="1"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kumimoji="1" sz="1600" kern="1200">
                <a:solidFill>
                  <a:schemeClr val="tx1">
                    <a:tint val="82000"/>
                  </a:schemeClr>
                </a:solidFill>
                <a:latin typeface="+mn-lt"/>
                <a:ea typeface="+mn-ea"/>
                <a:cs typeface="+mn-cs"/>
              </a:defRPr>
            </a:lvl9pPr>
          </a:lstStyle>
          <a:p>
            <a:r>
              <a:rPr lang="ja-JP" altLang="en-US" sz="4000" b="1" dirty="0">
                <a:solidFill>
                  <a:schemeClr val="tx1">
                    <a:lumMod val="95000"/>
                    <a:lumOff val="5000"/>
                  </a:schemeClr>
                </a:solidFill>
              </a:rPr>
              <a:t>ゴールキーパー</a:t>
            </a:r>
          </a:p>
        </p:txBody>
      </p:sp>
    </p:spTree>
    <p:extLst>
      <p:ext uri="{BB962C8B-B14F-4D97-AF65-F5344CB8AC3E}">
        <p14:creationId xmlns:p14="http://schemas.microsoft.com/office/powerpoint/2010/main" val="166753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530F5-E914-95ED-CBCF-1B5576A2701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B4092FE1-5C6B-9DFF-9329-B73030A6FCD3}"/>
              </a:ext>
            </a:extLst>
          </p:cNvPr>
          <p:cNvSpPr>
            <a:spLocks noGrp="1"/>
          </p:cNvSpPr>
          <p:nvPr>
            <p:ph type="body" idx="1"/>
          </p:nvPr>
        </p:nvSpPr>
        <p:spPr>
          <a:xfrm>
            <a:off x="6390640" y="1026160"/>
            <a:ext cx="4978400" cy="589281"/>
          </a:xfrm>
        </p:spPr>
        <p:txBody>
          <a:bodyPr>
            <a:noAutofit/>
          </a:bodyPr>
          <a:lstStyle/>
          <a:p>
            <a:r>
              <a:rPr lang="en-US" altLang="ja-JP" sz="4000" b="1" dirty="0">
                <a:solidFill>
                  <a:schemeClr val="tx1"/>
                </a:solidFill>
              </a:rPr>
              <a:t>Circular line sensor</a:t>
            </a:r>
            <a:endParaRPr kumimoji="1" lang="ja-JP" altLang="en-US" sz="4000" b="1" dirty="0">
              <a:solidFill>
                <a:schemeClr val="tx1"/>
              </a:solidFill>
            </a:endParaRPr>
          </a:p>
        </p:txBody>
      </p:sp>
      <p:pic>
        <p:nvPicPr>
          <p:cNvPr id="7" name="図 6">
            <a:extLst>
              <a:ext uri="{FF2B5EF4-FFF2-40B4-BE49-F238E27FC236}">
                <a16:creationId xmlns:a16="http://schemas.microsoft.com/office/drawing/2014/main" id="{A6E4B19E-E7E8-4B15-927B-22F557ADC622}"/>
              </a:ext>
            </a:extLst>
          </p:cNvPr>
          <p:cNvPicPr>
            <a:picLocks noChangeAspect="1"/>
          </p:cNvPicPr>
          <p:nvPr/>
        </p:nvPicPr>
        <p:blipFill>
          <a:blip r:embed="rId3"/>
          <a:stretch>
            <a:fillRect/>
          </a:stretch>
        </p:blipFill>
        <p:spPr>
          <a:xfrm>
            <a:off x="5420359" y="1767840"/>
            <a:ext cx="6680201" cy="5010150"/>
          </a:xfrm>
          <a:prstGeom prst="rect">
            <a:avLst/>
          </a:prstGeom>
        </p:spPr>
      </p:pic>
      <p:pic>
        <p:nvPicPr>
          <p:cNvPr id="8" name="図 7">
            <a:extLst>
              <a:ext uri="{FF2B5EF4-FFF2-40B4-BE49-F238E27FC236}">
                <a16:creationId xmlns:a16="http://schemas.microsoft.com/office/drawing/2014/main" id="{8174A29D-3FC6-B2CC-BFE4-FF14A12DCE97}"/>
              </a:ext>
            </a:extLst>
          </p:cNvPr>
          <p:cNvPicPr>
            <a:picLocks noChangeAspect="1"/>
          </p:cNvPicPr>
          <p:nvPr/>
        </p:nvPicPr>
        <p:blipFill>
          <a:blip r:embed="rId4"/>
          <a:srcRect l="27927" t="2576" r="18853" b="7728"/>
          <a:stretch>
            <a:fillRect/>
          </a:stretch>
        </p:blipFill>
        <p:spPr>
          <a:xfrm>
            <a:off x="467360" y="1026160"/>
            <a:ext cx="4551680" cy="5753442"/>
          </a:xfrm>
          <a:prstGeom prst="rect">
            <a:avLst/>
          </a:prstGeom>
        </p:spPr>
      </p:pic>
      <p:sp>
        <p:nvSpPr>
          <p:cNvPr id="11" name="テキスト プレースホルダー 2">
            <a:extLst>
              <a:ext uri="{FF2B5EF4-FFF2-40B4-BE49-F238E27FC236}">
                <a16:creationId xmlns:a16="http://schemas.microsoft.com/office/drawing/2014/main" id="{2E358CE5-A487-8904-9322-5E2F70458F4A}"/>
              </a:ext>
            </a:extLst>
          </p:cNvPr>
          <p:cNvSpPr txBox="1">
            <a:spLocks/>
          </p:cNvSpPr>
          <p:nvPr/>
        </p:nvSpPr>
        <p:spPr>
          <a:xfrm>
            <a:off x="1076960" y="335280"/>
            <a:ext cx="3352800" cy="58928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kumimoji="1"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kumimoji="1"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kumimoji="1"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kumimoji="1"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kumimoji="1" sz="1600" kern="1200">
                <a:solidFill>
                  <a:schemeClr val="tx1">
                    <a:tint val="82000"/>
                  </a:schemeClr>
                </a:solidFill>
                <a:latin typeface="+mn-lt"/>
                <a:ea typeface="+mn-ea"/>
                <a:cs typeface="+mn-cs"/>
              </a:defRPr>
            </a:lvl9pPr>
          </a:lstStyle>
          <a:p>
            <a:r>
              <a:rPr lang="en-US" altLang="ja-JP" sz="4000" b="1" dirty="0">
                <a:solidFill>
                  <a:schemeClr val="tx1">
                    <a:lumMod val="95000"/>
                    <a:lumOff val="5000"/>
                  </a:schemeClr>
                </a:solidFill>
              </a:rPr>
              <a:t>Goal keeper</a:t>
            </a:r>
            <a:endParaRPr lang="ja-JP" altLang="en-US" sz="4000" b="1" dirty="0">
              <a:solidFill>
                <a:schemeClr val="tx1">
                  <a:lumMod val="95000"/>
                  <a:lumOff val="5000"/>
                </a:schemeClr>
              </a:solidFill>
            </a:endParaRPr>
          </a:p>
        </p:txBody>
      </p:sp>
    </p:spTree>
    <p:extLst>
      <p:ext uri="{BB962C8B-B14F-4D97-AF65-F5344CB8AC3E}">
        <p14:creationId xmlns:p14="http://schemas.microsoft.com/office/powerpoint/2010/main" val="2625811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9F5E431B-52A4-42A9-6A02-71C578BD0A82}"/>
              </a:ext>
            </a:extLst>
          </p:cNvPr>
          <p:cNvSpPr/>
          <p:nvPr/>
        </p:nvSpPr>
        <p:spPr>
          <a:xfrm>
            <a:off x="426721" y="294640"/>
            <a:ext cx="10920730" cy="5283200"/>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26AC64B2-E9F2-2F6B-F6B8-37D55B591347}"/>
              </a:ext>
            </a:extLst>
          </p:cNvPr>
          <p:cNvSpPr>
            <a:spLocks noGrp="1"/>
          </p:cNvSpPr>
          <p:nvPr>
            <p:ph type="title"/>
          </p:nvPr>
        </p:nvSpPr>
        <p:spPr>
          <a:xfrm>
            <a:off x="426720" y="518160"/>
            <a:ext cx="10920730" cy="3048635"/>
          </a:xfrm>
        </p:spPr>
        <p:txBody>
          <a:bodyPr/>
          <a:lstStyle/>
          <a:p>
            <a:r>
              <a:rPr kumimoji="1" lang="ja-JP" altLang="en-US" dirty="0"/>
              <a:t>末広が作ってたライントレースの図挿入</a:t>
            </a:r>
          </a:p>
        </p:txBody>
      </p:sp>
      <p:sp>
        <p:nvSpPr>
          <p:cNvPr id="3" name="テキスト プレースホルダー 2">
            <a:extLst>
              <a:ext uri="{FF2B5EF4-FFF2-40B4-BE49-F238E27FC236}">
                <a16:creationId xmlns:a16="http://schemas.microsoft.com/office/drawing/2014/main" id="{1B639119-7F50-CB05-BDEE-FE04841D6B82}"/>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4253010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5D1B0-D987-4CAA-9DB6-8611517C7B3D}"/>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D48FC979-0ADB-E178-B198-9762B3D01238}"/>
              </a:ext>
            </a:extLst>
          </p:cNvPr>
          <p:cNvSpPr/>
          <p:nvPr/>
        </p:nvSpPr>
        <p:spPr>
          <a:xfrm>
            <a:off x="426721" y="294640"/>
            <a:ext cx="10920730" cy="5283200"/>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700C581F-115A-59A8-6FAC-C23DFC53F95B}"/>
              </a:ext>
            </a:extLst>
          </p:cNvPr>
          <p:cNvSpPr>
            <a:spLocks noGrp="1"/>
          </p:cNvSpPr>
          <p:nvPr>
            <p:ph type="title"/>
          </p:nvPr>
        </p:nvSpPr>
        <p:spPr>
          <a:xfrm>
            <a:off x="426720" y="518160"/>
            <a:ext cx="10920730" cy="3048635"/>
          </a:xfrm>
        </p:spPr>
        <p:txBody>
          <a:bodyPr/>
          <a:lstStyle/>
          <a:p>
            <a:r>
              <a:rPr lang="en-US" altLang="ja-JP" dirty="0"/>
              <a:t>Keeper fig</a:t>
            </a:r>
            <a:endParaRPr kumimoji="1" lang="ja-JP" altLang="en-US" dirty="0"/>
          </a:p>
        </p:txBody>
      </p:sp>
      <p:sp>
        <p:nvSpPr>
          <p:cNvPr id="3" name="テキスト プレースホルダー 2">
            <a:extLst>
              <a:ext uri="{FF2B5EF4-FFF2-40B4-BE49-F238E27FC236}">
                <a16:creationId xmlns:a16="http://schemas.microsoft.com/office/drawing/2014/main" id="{05660948-3B9A-DDAE-A0DB-CAFD2B25D40A}"/>
              </a:ext>
            </a:extLst>
          </p:cNvPr>
          <p:cNvSpPr>
            <a:spLocks noGrp="1"/>
          </p:cNvSpPr>
          <p:nvPr>
            <p:ph type="body" idx="1"/>
          </p:nvPr>
        </p:nvSpPr>
        <p:spPr>
          <a:xfrm>
            <a:off x="831850" y="4589463"/>
            <a:ext cx="3201670" cy="744537"/>
          </a:xfrm>
        </p:spPr>
        <p:txBody>
          <a:bodyPr/>
          <a:lstStyle/>
          <a:p>
            <a:endParaRPr kumimoji="1" lang="ja-JP" altLang="en-US" dirty="0"/>
          </a:p>
        </p:txBody>
      </p:sp>
    </p:spTree>
    <p:extLst>
      <p:ext uri="{BB962C8B-B14F-4D97-AF65-F5344CB8AC3E}">
        <p14:creationId xmlns:p14="http://schemas.microsoft.com/office/powerpoint/2010/main" val="1614947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A7D364F1-B23E-1F4D-C38C-402EB760B2CA}"/>
              </a:ext>
            </a:extLst>
          </p:cNvPr>
          <p:cNvSpPr/>
          <p:nvPr/>
        </p:nvSpPr>
        <p:spPr>
          <a:xfrm>
            <a:off x="5242560" y="1259840"/>
            <a:ext cx="6715761" cy="5496560"/>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D23429EA-0B1D-0796-949F-B7A224949977}"/>
              </a:ext>
            </a:extLst>
          </p:cNvPr>
          <p:cNvSpPr>
            <a:spLocks noGrp="1"/>
          </p:cNvSpPr>
          <p:nvPr>
            <p:ph type="title"/>
          </p:nvPr>
        </p:nvSpPr>
        <p:spPr>
          <a:xfrm>
            <a:off x="5516880" y="2411094"/>
            <a:ext cx="5994400" cy="2035811"/>
          </a:xfrm>
        </p:spPr>
        <p:txBody>
          <a:bodyPr>
            <a:normAutofit fontScale="90000"/>
          </a:bodyPr>
          <a:lstStyle/>
          <a:p>
            <a:r>
              <a:rPr kumimoji="1" lang="ja-JP" altLang="en-US" dirty="0"/>
              <a:t>　</a:t>
            </a:r>
            <a:br>
              <a:rPr kumimoji="1" lang="en-US" altLang="ja-JP" dirty="0"/>
            </a:br>
            <a:r>
              <a:rPr kumimoji="1" lang="ja-JP" altLang="en-US" dirty="0"/>
              <a:t>＊ラインセンサの　　　　　　</a:t>
            </a:r>
            <a:br>
              <a:rPr kumimoji="1" lang="en-US" altLang="ja-JP" dirty="0"/>
            </a:br>
            <a:r>
              <a:rPr kumimoji="1" lang="ja-JP" altLang="en-US" dirty="0"/>
              <a:t>写真</a:t>
            </a:r>
          </a:p>
        </p:txBody>
      </p:sp>
      <p:sp>
        <p:nvSpPr>
          <p:cNvPr id="3" name="テキスト プレースホルダー 2">
            <a:extLst>
              <a:ext uri="{FF2B5EF4-FFF2-40B4-BE49-F238E27FC236}">
                <a16:creationId xmlns:a16="http://schemas.microsoft.com/office/drawing/2014/main" id="{926A76CF-F6EB-8EF1-3F16-692A734345EC}"/>
              </a:ext>
            </a:extLst>
          </p:cNvPr>
          <p:cNvSpPr>
            <a:spLocks noGrp="1"/>
          </p:cNvSpPr>
          <p:nvPr>
            <p:ph type="body" idx="1"/>
          </p:nvPr>
        </p:nvSpPr>
        <p:spPr>
          <a:xfrm>
            <a:off x="6096000" y="577764"/>
            <a:ext cx="5151755" cy="528320"/>
          </a:xfrm>
        </p:spPr>
        <p:txBody>
          <a:bodyPr>
            <a:noAutofit/>
          </a:bodyPr>
          <a:lstStyle/>
          <a:p>
            <a:r>
              <a:rPr kumimoji="1" lang="ja-JP" altLang="en-US" sz="3200" b="1" dirty="0">
                <a:solidFill>
                  <a:schemeClr val="tx1"/>
                </a:solidFill>
              </a:rPr>
              <a:t>アタッカーのラインセンサ</a:t>
            </a:r>
          </a:p>
        </p:txBody>
      </p:sp>
      <p:pic>
        <p:nvPicPr>
          <p:cNvPr id="4" name="コンテンツ プレースホルダー 4">
            <a:extLst>
              <a:ext uri="{FF2B5EF4-FFF2-40B4-BE49-F238E27FC236}">
                <a16:creationId xmlns:a16="http://schemas.microsoft.com/office/drawing/2014/main" id="{74CEF0FC-A12F-F291-7E0B-C90E59173DF7}"/>
              </a:ext>
            </a:extLst>
          </p:cNvPr>
          <p:cNvPicPr>
            <a:picLocks noChangeAspect="1"/>
          </p:cNvPicPr>
          <p:nvPr/>
        </p:nvPicPr>
        <p:blipFill>
          <a:blip r:embed="rId3"/>
          <a:srcRect l="36879" t="10902" r="38510" b="48728"/>
          <a:stretch>
            <a:fillRect/>
          </a:stretch>
        </p:blipFill>
        <p:spPr>
          <a:xfrm>
            <a:off x="233680" y="1106084"/>
            <a:ext cx="4591684" cy="5650316"/>
          </a:xfrm>
          <a:prstGeom prst="rect">
            <a:avLst/>
          </a:prstGeom>
        </p:spPr>
      </p:pic>
      <p:sp>
        <p:nvSpPr>
          <p:cNvPr id="6" name="テキスト プレースホルダー 2">
            <a:extLst>
              <a:ext uri="{FF2B5EF4-FFF2-40B4-BE49-F238E27FC236}">
                <a16:creationId xmlns:a16="http://schemas.microsoft.com/office/drawing/2014/main" id="{6058E595-BD53-6F7F-D3A4-26CB26B831EE}"/>
              </a:ext>
            </a:extLst>
          </p:cNvPr>
          <p:cNvSpPr txBox="1">
            <a:spLocks/>
          </p:cNvSpPr>
          <p:nvPr/>
        </p:nvSpPr>
        <p:spPr>
          <a:xfrm>
            <a:off x="1188720" y="365760"/>
            <a:ext cx="2946400" cy="58928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kumimoji="1"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kumimoji="1"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kumimoji="1"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kumimoji="1"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kumimoji="1" sz="1600" kern="1200">
                <a:solidFill>
                  <a:schemeClr val="tx1">
                    <a:tint val="82000"/>
                  </a:schemeClr>
                </a:solidFill>
                <a:latin typeface="+mn-lt"/>
                <a:ea typeface="+mn-ea"/>
                <a:cs typeface="+mn-cs"/>
              </a:defRPr>
            </a:lvl9pPr>
          </a:lstStyle>
          <a:p>
            <a:r>
              <a:rPr lang="ja-JP" altLang="en-US" sz="4000" b="1" dirty="0">
                <a:solidFill>
                  <a:schemeClr val="tx1">
                    <a:lumMod val="95000"/>
                    <a:lumOff val="5000"/>
                  </a:schemeClr>
                </a:solidFill>
              </a:rPr>
              <a:t>アタッカー</a:t>
            </a:r>
          </a:p>
        </p:txBody>
      </p:sp>
    </p:spTree>
    <p:extLst>
      <p:ext uri="{BB962C8B-B14F-4D97-AF65-F5344CB8AC3E}">
        <p14:creationId xmlns:p14="http://schemas.microsoft.com/office/powerpoint/2010/main" val="3213998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B9114-8981-C7FC-4374-0E8EEF71D040}"/>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F530109A-994D-8CA4-5992-A669DC5B5C66}"/>
              </a:ext>
            </a:extLst>
          </p:cNvPr>
          <p:cNvSpPr/>
          <p:nvPr/>
        </p:nvSpPr>
        <p:spPr>
          <a:xfrm>
            <a:off x="5242560" y="1259840"/>
            <a:ext cx="6715761" cy="5496560"/>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D6F3C4CA-31BD-A5EB-80DE-69EF1104E1B4}"/>
              </a:ext>
            </a:extLst>
          </p:cNvPr>
          <p:cNvSpPr>
            <a:spLocks noGrp="1"/>
          </p:cNvSpPr>
          <p:nvPr>
            <p:ph type="title"/>
          </p:nvPr>
        </p:nvSpPr>
        <p:spPr>
          <a:xfrm>
            <a:off x="5516880" y="1808480"/>
            <a:ext cx="5994400" cy="2638425"/>
          </a:xfrm>
        </p:spPr>
        <p:txBody>
          <a:bodyPr>
            <a:normAutofit fontScale="90000"/>
          </a:bodyPr>
          <a:lstStyle/>
          <a:p>
            <a:r>
              <a:rPr kumimoji="1" lang="ja-JP" altLang="en-US" dirty="0"/>
              <a:t>　</a:t>
            </a:r>
            <a:br>
              <a:rPr kumimoji="1" lang="en-US" altLang="ja-JP" dirty="0"/>
            </a:br>
            <a:r>
              <a:rPr kumimoji="1" lang="ja-JP" altLang="en-US" dirty="0"/>
              <a:t>＊</a:t>
            </a:r>
            <a:r>
              <a:rPr lang="en-US" altLang="ja-JP" b="1" dirty="0"/>
              <a:t>Attacker’s line sensor fig</a:t>
            </a:r>
            <a:br>
              <a:rPr lang="en-US" altLang="ja-JP" b="1" dirty="0"/>
            </a:br>
            <a:endParaRPr kumimoji="1" lang="ja-JP" altLang="en-US" dirty="0"/>
          </a:p>
        </p:txBody>
      </p:sp>
      <p:sp>
        <p:nvSpPr>
          <p:cNvPr id="3" name="テキスト プレースホルダー 2">
            <a:extLst>
              <a:ext uri="{FF2B5EF4-FFF2-40B4-BE49-F238E27FC236}">
                <a16:creationId xmlns:a16="http://schemas.microsoft.com/office/drawing/2014/main" id="{B7066EF7-547C-ACDF-1748-98602C9EA43A}"/>
              </a:ext>
            </a:extLst>
          </p:cNvPr>
          <p:cNvSpPr>
            <a:spLocks noGrp="1"/>
          </p:cNvSpPr>
          <p:nvPr>
            <p:ph type="body" idx="1"/>
          </p:nvPr>
        </p:nvSpPr>
        <p:spPr>
          <a:xfrm>
            <a:off x="6096000" y="577764"/>
            <a:ext cx="5151755" cy="528320"/>
          </a:xfrm>
        </p:spPr>
        <p:txBody>
          <a:bodyPr>
            <a:noAutofit/>
          </a:bodyPr>
          <a:lstStyle/>
          <a:p>
            <a:r>
              <a:rPr kumimoji="1" lang="en-US" altLang="ja-JP" sz="3200" b="1" dirty="0">
                <a:solidFill>
                  <a:schemeClr val="tx1"/>
                </a:solidFill>
              </a:rPr>
              <a:t>Attacker’s line sensor</a:t>
            </a:r>
          </a:p>
        </p:txBody>
      </p:sp>
      <p:pic>
        <p:nvPicPr>
          <p:cNvPr id="4" name="コンテンツ プレースホルダー 4">
            <a:extLst>
              <a:ext uri="{FF2B5EF4-FFF2-40B4-BE49-F238E27FC236}">
                <a16:creationId xmlns:a16="http://schemas.microsoft.com/office/drawing/2014/main" id="{5FFAA765-B08A-A5BA-4375-84F59FE93D4E}"/>
              </a:ext>
            </a:extLst>
          </p:cNvPr>
          <p:cNvPicPr>
            <a:picLocks noChangeAspect="1"/>
          </p:cNvPicPr>
          <p:nvPr/>
        </p:nvPicPr>
        <p:blipFill>
          <a:blip r:embed="rId3"/>
          <a:srcRect l="36879" t="10902" r="38510" b="48728"/>
          <a:stretch>
            <a:fillRect/>
          </a:stretch>
        </p:blipFill>
        <p:spPr>
          <a:xfrm>
            <a:off x="233680" y="1106084"/>
            <a:ext cx="4591684" cy="5650316"/>
          </a:xfrm>
          <a:prstGeom prst="rect">
            <a:avLst/>
          </a:prstGeom>
        </p:spPr>
      </p:pic>
      <p:sp>
        <p:nvSpPr>
          <p:cNvPr id="6" name="テキスト プレースホルダー 2">
            <a:extLst>
              <a:ext uri="{FF2B5EF4-FFF2-40B4-BE49-F238E27FC236}">
                <a16:creationId xmlns:a16="http://schemas.microsoft.com/office/drawing/2014/main" id="{4901B035-05FE-2E6B-A33E-E5C1641C7BD3}"/>
              </a:ext>
            </a:extLst>
          </p:cNvPr>
          <p:cNvSpPr txBox="1">
            <a:spLocks/>
          </p:cNvSpPr>
          <p:nvPr/>
        </p:nvSpPr>
        <p:spPr>
          <a:xfrm>
            <a:off x="1188720" y="365760"/>
            <a:ext cx="2946400" cy="58928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kumimoji="1"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kumimoji="1"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kumimoji="1"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kumimoji="1"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kumimoji="1" sz="1600" kern="1200">
                <a:solidFill>
                  <a:schemeClr val="tx1">
                    <a:tint val="82000"/>
                  </a:schemeClr>
                </a:solidFill>
                <a:latin typeface="+mn-lt"/>
                <a:ea typeface="+mn-ea"/>
                <a:cs typeface="+mn-cs"/>
              </a:defRPr>
            </a:lvl9pPr>
          </a:lstStyle>
          <a:p>
            <a:r>
              <a:rPr lang="en-US" altLang="ja-JP" sz="4000" b="1" dirty="0">
                <a:solidFill>
                  <a:schemeClr val="tx1">
                    <a:lumMod val="95000"/>
                    <a:lumOff val="5000"/>
                  </a:schemeClr>
                </a:solidFill>
              </a:rPr>
              <a:t>Attacker</a:t>
            </a:r>
            <a:endParaRPr lang="ja-JP" altLang="en-US" sz="4000" b="1" dirty="0">
              <a:solidFill>
                <a:schemeClr val="tx1">
                  <a:lumMod val="95000"/>
                  <a:lumOff val="5000"/>
                </a:schemeClr>
              </a:solidFill>
            </a:endParaRPr>
          </a:p>
        </p:txBody>
      </p:sp>
    </p:spTree>
    <p:extLst>
      <p:ext uri="{BB962C8B-B14F-4D97-AF65-F5344CB8AC3E}">
        <p14:creationId xmlns:p14="http://schemas.microsoft.com/office/powerpoint/2010/main" val="2672636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7AEB312C-5689-89A8-D64B-664D6EF5E082}"/>
              </a:ext>
            </a:extLst>
          </p:cNvPr>
          <p:cNvSpPr>
            <a:spLocks noGrp="1"/>
          </p:cNvSpPr>
          <p:nvPr>
            <p:ph type="body" idx="1"/>
          </p:nvPr>
        </p:nvSpPr>
        <p:spPr>
          <a:xfrm>
            <a:off x="588377" y="1590615"/>
            <a:ext cx="8209113" cy="1500187"/>
          </a:xfrm>
        </p:spPr>
        <p:txBody>
          <a:bodyPr/>
          <a:lstStyle/>
          <a:p>
            <a:r>
              <a:rPr kumimoji="1" lang="ja-JP" altLang="en-US" dirty="0"/>
              <a:t>写真</a:t>
            </a:r>
          </a:p>
        </p:txBody>
      </p:sp>
      <p:sp>
        <p:nvSpPr>
          <p:cNvPr id="7" name="テキスト ボックス 6">
            <a:extLst>
              <a:ext uri="{FF2B5EF4-FFF2-40B4-BE49-F238E27FC236}">
                <a16:creationId xmlns:a16="http://schemas.microsoft.com/office/drawing/2014/main" id="{91313F06-9014-C532-0E6D-4BA0DEC29B6B}"/>
              </a:ext>
            </a:extLst>
          </p:cNvPr>
          <p:cNvSpPr txBox="1"/>
          <p:nvPr/>
        </p:nvSpPr>
        <p:spPr>
          <a:xfrm>
            <a:off x="3847699" y="768350"/>
            <a:ext cx="6097604" cy="923330"/>
          </a:xfrm>
          <a:prstGeom prst="rect">
            <a:avLst/>
          </a:prstGeom>
          <a:noFill/>
        </p:spPr>
        <p:txBody>
          <a:bodyPr wrap="square">
            <a:spAutoFit/>
          </a:bodyPr>
          <a:lstStyle/>
          <a:p>
            <a:pPr rtl="0">
              <a:buNone/>
            </a:pPr>
            <a:r>
              <a:rPr lang="ja-JP" altLang="en-US" sz="1800" b="0" i="0" u="none" strike="noStrike" dirty="0">
                <a:solidFill>
                  <a:srgbClr val="000000"/>
                </a:solidFill>
                <a:effectLst/>
                <a:latin typeface="Arial" panose="020B0604020202020204" pitchFamily="34" charset="0"/>
              </a:rPr>
              <a:t>私たちのロボットの特徴</a:t>
            </a:r>
            <a:endParaRPr lang="ja-JP" altLang="en-US" b="0" dirty="0">
              <a:effectLst/>
            </a:endParaRPr>
          </a:p>
          <a:p>
            <a:pPr>
              <a:buNone/>
            </a:pPr>
            <a:br>
              <a:rPr lang="ja-JP" altLang="en-US" dirty="0"/>
            </a:br>
            <a:endParaRPr lang="ja-JP" altLang="en-US" dirty="0"/>
          </a:p>
        </p:txBody>
      </p:sp>
      <p:sp>
        <p:nvSpPr>
          <p:cNvPr id="11" name="テキスト ボックス 10">
            <a:extLst>
              <a:ext uri="{FF2B5EF4-FFF2-40B4-BE49-F238E27FC236}">
                <a16:creationId xmlns:a16="http://schemas.microsoft.com/office/drawing/2014/main" id="{D6EA67B0-9A54-1484-A3C3-A7A75D265BE4}"/>
              </a:ext>
            </a:extLst>
          </p:cNvPr>
          <p:cNvSpPr txBox="1"/>
          <p:nvPr/>
        </p:nvSpPr>
        <p:spPr>
          <a:xfrm>
            <a:off x="8641079" y="3868263"/>
            <a:ext cx="1715704" cy="923330"/>
          </a:xfrm>
          <a:prstGeom prst="rect">
            <a:avLst/>
          </a:prstGeom>
          <a:noFill/>
        </p:spPr>
        <p:txBody>
          <a:bodyPr wrap="square">
            <a:spAutoFit/>
          </a:bodyPr>
          <a:lstStyle/>
          <a:p>
            <a:r>
              <a:rPr lang="en-US" altLang="ja-JP" dirty="0"/>
              <a:t>Robot2</a:t>
            </a:r>
          </a:p>
          <a:p>
            <a:br>
              <a:rPr lang="en-US" altLang="ja-JP" dirty="0"/>
            </a:br>
            <a:endParaRPr lang="ja-JP" altLang="en-US" dirty="0"/>
          </a:p>
        </p:txBody>
      </p:sp>
      <p:sp>
        <p:nvSpPr>
          <p:cNvPr id="13" name="テキスト ボックス 12">
            <a:extLst>
              <a:ext uri="{FF2B5EF4-FFF2-40B4-BE49-F238E27FC236}">
                <a16:creationId xmlns:a16="http://schemas.microsoft.com/office/drawing/2014/main" id="{F8897645-C3E4-1186-B507-3B8981A34798}"/>
              </a:ext>
            </a:extLst>
          </p:cNvPr>
          <p:cNvSpPr txBox="1"/>
          <p:nvPr/>
        </p:nvSpPr>
        <p:spPr>
          <a:xfrm>
            <a:off x="-1213585" y="3767198"/>
            <a:ext cx="6097604" cy="923330"/>
          </a:xfrm>
          <a:prstGeom prst="rect">
            <a:avLst/>
          </a:prstGeom>
          <a:noFill/>
        </p:spPr>
        <p:txBody>
          <a:bodyPr wrap="square">
            <a:spAutoFit/>
          </a:bodyPr>
          <a:lstStyle/>
          <a:p>
            <a:pPr algn="ctr" rtl="0">
              <a:buNone/>
            </a:pPr>
            <a:r>
              <a:rPr lang="en-US" altLang="ja-JP" sz="1800" b="0" i="0" u="none" strike="noStrike" dirty="0">
                <a:solidFill>
                  <a:srgbClr val="595959"/>
                </a:solidFill>
                <a:effectLst/>
                <a:latin typeface="Arial" panose="020B0604020202020204" pitchFamily="34" charset="0"/>
              </a:rPr>
              <a:t>Robot1</a:t>
            </a:r>
            <a:endParaRPr lang="en-US" altLang="ja-JP" b="0" dirty="0">
              <a:effectLst/>
            </a:endParaRPr>
          </a:p>
          <a:p>
            <a:pPr>
              <a:buNone/>
            </a:pPr>
            <a:br>
              <a:rPr lang="en-US" altLang="ja-JP" dirty="0"/>
            </a:br>
            <a:endParaRPr lang="ja-JP" altLang="en-US" dirty="0"/>
          </a:p>
        </p:txBody>
      </p:sp>
    </p:spTree>
    <p:extLst>
      <p:ext uri="{BB962C8B-B14F-4D97-AF65-F5344CB8AC3E}">
        <p14:creationId xmlns:p14="http://schemas.microsoft.com/office/powerpoint/2010/main" val="2295951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61B30-58B7-F3A2-5419-30E09D7C156C}"/>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E9DBDC0F-60E1-39D8-C2FB-E7F3E18ADB5D}"/>
              </a:ext>
            </a:extLst>
          </p:cNvPr>
          <p:cNvSpPr>
            <a:spLocks noGrp="1"/>
          </p:cNvSpPr>
          <p:nvPr>
            <p:ph type="body" idx="1"/>
          </p:nvPr>
        </p:nvSpPr>
        <p:spPr>
          <a:xfrm>
            <a:off x="588377" y="1590615"/>
            <a:ext cx="8209113" cy="1500187"/>
          </a:xfrm>
        </p:spPr>
        <p:txBody>
          <a:bodyPr/>
          <a:lstStyle/>
          <a:p>
            <a:r>
              <a:rPr kumimoji="1" lang="ja-JP" altLang="en-US" dirty="0"/>
              <a:t>写真</a:t>
            </a:r>
          </a:p>
        </p:txBody>
      </p:sp>
      <p:sp>
        <p:nvSpPr>
          <p:cNvPr id="7" name="テキスト ボックス 6">
            <a:extLst>
              <a:ext uri="{FF2B5EF4-FFF2-40B4-BE49-F238E27FC236}">
                <a16:creationId xmlns:a16="http://schemas.microsoft.com/office/drawing/2014/main" id="{9E5B4F39-CC52-EE38-116F-C44CB8230FAC}"/>
              </a:ext>
            </a:extLst>
          </p:cNvPr>
          <p:cNvSpPr txBox="1"/>
          <p:nvPr/>
        </p:nvSpPr>
        <p:spPr>
          <a:xfrm>
            <a:off x="3847699" y="768350"/>
            <a:ext cx="6097604" cy="923330"/>
          </a:xfrm>
          <a:prstGeom prst="rect">
            <a:avLst/>
          </a:prstGeom>
          <a:noFill/>
        </p:spPr>
        <p:txBody>
          <a:bodyPr wrap="square">
            <a:spAutoFit/>
          </a:bodyPr>
          <a:lstStyle/>
          <a:p>
            <a:r>
              <a:rPr lang="en-US" altLang="ja-JP" dirty="0"/>
              <a:t>Characteristics of our robot</a:t>
            </a:r>
          </a:p>
          <a:p>
            <a:br>
              <a:rPr lang="en-US" altLang="ja-JP" dirty="0"/>
            </a:br>
            <a:endParaRPr lang="ja-JP" altLang="en-US" dirty="0"/>
          </a:p>
        </p:txBody>
      </p:sp>
      <p:sp>
        <p:nvSpPr>
          <p:cNvPr id="11" name="テキスト ボックス 10">
            <a:extLst>
              <a:ext uri="{FF2B5EF4-FFF2-40B4-BE49-F238E27FC236}">
                <a16:creationId xmlns:a16="http://schemas.microsoft.com/office/drawing/2014/main" id="{A176F51C-26C2-5A67-80E2-870D286FCECD}"/>
              </a:ext>
            </a:extLst>
          </p:cNvPr>
          <p:cNvSpPr txBox="1"/>
          <p:nvPr/>
        </p:nvSpPr>
        <p:spPr>
          <a:xfrm>
            <a:off x="8641079" y="3868263"/>
            <a:ext cx="1715704" cy="923330"/>
          </a:xfrm>
          <a:prstGeom prst="rect">
            <a:avLst/>
          </a:prstGeom>
          <a:noFill/>
        </p:spPr>
        <p:txBody>
          <a:bodyPr wrap="square">
            <a:spAutoFit/>
          </a:bodyPr>
          <a:lstStyle/>
          <a:p>
            <a:r>
              <a:rPr lang="en-US" altLang="ja-JP" dirty="0"/>
              <a:t>Robot2</a:t>
            </a:r>
          </a:p>
          <a:p>
            <a:br>
              <a:rPr lang="en-US" altLang="ja-JP" dirty="0"/>
            </a:br>
            <a:endParaRPr lang="ja-JP" altLang="en-US" dirty="0"/>
          </a:p>
        </p:txBody>
      </p:sp>
      <p:sp>
        <p:nvSpPr>
          <p:cNvPr id="13" name="テキスト ボックス 12">
            <a:extLst>
              <a:ext uri="{FF2B5EF4-FFF2-40B4-BE49-F238E27FC236}">
                <a16:creationId xmlns:a16="http://schemas.microsoft.com/office/drawing/2014/main" id="{AB8521FD-84AD-26DE-F5B7-CC1BC139E99C}"/>
              </a:ext>
            </a:extLst>
          </p:cNvPr>
          <p:cNvSpPr txBox="1"/>
          <p:nvPr/>
        </p:nvSpPr>
        <p:spPr>
          <a:xfrm>
            <a:off x="-1213585" y="3767198"/>
            <a:ext cx="6097604" cy="923330"/>
          </a:xfrm>
          <a:prstGeom prst="rect">
            <a:avLst/>
          </a:prstGeom>
          <a:noFill/>
        </p:spPr>
        <p:txBody>
          <a:bodyPr wrap="square">
            <a:spAutoFit/>
          </a:bodyPr>
          <a:lstStyle/>
          <a:p>
            <a:pPr algn="ctr" rtl="0">
              <a:buNone/>
            </a:pPr>
            <a:r>
              <a:rPr lang="en-US" altLang="ja-JP" sz="1800" b="0" i="0" u="none" strike="noStrike" dirty="0">
                <a:solidFill>
                  <a:srgbClr val="595959"/>
                </a:solidFill>
                <a:effectLst/>
                <a:latin typeface="Arial" panose="020B0604020202020204" pitchFamily="34" charset="0"/>
              </a:rPr>
              <a:t>Robot1</a:t>
            </a:r>
            <a:endParaRPr lang="en-US" altLang="ja-JP" b="0" dirty="0">
              <a:effectLst/>
            </a:endParaRPr>
          </a:p>
          <a:p>
            <a:pPr>
              <a:buNone/>
            </a:pPr>
            <a:br>
              <a:rPr lang="en-US" altLang="ja-JP" dirty="0"/>
            </a:br>
            <a:endParaRPr lang="ja-JP" altLang="en-US" dirty="0"/>
          </a:p>
        </p:txBody>
      </p:sp>
    </p:spTree>
    <p:extLst>
      <p:ext uri="{BB962C8B-B14F-4D97-AF65-F5344CB8AC3E}">
        <p14:creationId xmlns:p14="http://schemas.microsoft.com/office/powerpoint/2010/main" val="3026489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96D017-2EAB-2EA6-E394-BC73B24A82B2}"/>
              </a:ext>
            </a:extLst>
          </p:cNvPr>
          <p:cNvSpPr>
            <a:spLocks noGrp="1"/>
          </p:cNvSpPr>
          <p:nvPr>
            <p:ph type="title"/>
          </p:nvPr>
        </p:nvSpPr>
        <p:spPr>
          <a:xfrm>
            <a:off x="1313113" y="2094748"/>
            <a:ext cx="5617077" cy="2852737"/>
          </a:xfrm>
        </p:spPr>
        <p:txBody>
          <a:bodyPr/>
          <a:lstStyle/>
          <a:p>
            <a:r>
              <a:rPr kumimoji="1" lang="en-US" altLang="ja-JP" dirty="0"/>
              <a:t>Fusion</a:t>
            </a:r>
            <a:r>
              <a:rPr kumimoji="1" lang="ja-JP" altLang="en-US" dirty="0"/>
              <a:t>写真</a:t>
            </a:r>
          </a:p>
        </p:txBody>
      </p:sp>
      <p:sp>
        <p:nvSpPr>
          <p:cNvPr id="3" name="テキスト プレースホルダー 2">
            <a:extLst>
              <a:ext uri="{FF2B5EF4-FFF2-40B4-BE49-F238E27FC236}">
                <a16:creationId xmlns:a16="http://schemas.microsoft.com/office/drawing/2014/main" id="{B3173FDD-426F-91C0-FCEF-8CDDC0AFA8EC}"/>
              </a:ext>
            </a:extLst>
          </p:cNvPr>
          <p:cNvSpPr>
            <a:spLocks noGrp="1"/>
          </p:cNvSpPr>
          <p:nvPr>
            <p:ph type="body" idx="1"/>
          </p:nvPr>
        </p:nvSpPr>
        <p:spPr>
          <a:xfrm>
            <a:off x="186957" y="787484"/>
            <a:ext cx="10515600" cy="1500187"/>
          </a:xfrm>
        </p:spPr>
        <p:txBody>
          <a:bodyPr/>
          <a:lstStyle/>
          <a:p>
            <a:r>
              <a:rPr kumimoji="1" lang="ja-JP" altLang="en-US" dirty="0"/>
              <a:t>全国大会機体⇒世界大会機</a:t>
            </a:r>
          </a:p>
        </p:txBody>
      </p:sp>
    </p:spTree>
    <p:extLst>
      <p:ext uri="{BB962C8B-B14F-4D97-AF65-F5344CB8AC3E}">
        <p14:creationId xmlns:p14="http://schemas.microsoft.com/office/powerpoint/2010/main" val="21266926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753C0-8E06-85CF-AB0B-28B82D59293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76652AC-1F79-2C97-D1E4-B94D0E819B85}"/>
              </a:ext>
            </a:extLst>
          </p:cNvPr>
          <p:cNvSpPr>
            <a:spLocks noGrp="1"/>
          </p:cNvSpPr>
          <p:nvPr>
            <p:ph type="title"/>
          </p:nvPr>
        </p:nvSpPr>
        <p:spPr>
          <a:xfrm>
            <a:off x="1313113" y="2094748"/>
            <a:ext cx="5617077" cy="2852737"/>
          </a:xfrm>
        </p:spPr>
        <p:txBody>
          <a:bodyPr/>
          <a:lstStyle/>
          <a:p>
            <a:r>
              <a:rPr kumimoji="1" lang="en-US" altLang="ja-JP" dirty="0"/>
              <a:t>Fusion</a:t>
            </a:r>
            <a:r>
              <a:rPr kumimoji="1" lang="ja-JP" altLang="en-US" dirty="0"/>
              <a:t>写真</a:t>
            </a:r>
          </a:p>
        </p:txBody>
      </p:sp>
      <p:sp>
        <p:nvSpPr>
          <p:cNvPr id="3" name="テキスト プレースホルダー 2">
            <a:extLst>
              <a:ext uri="{FF2B5EF4-FFF2-40B4-BE49-F238E27FC236}">
                <a16:creationId xmlns:a16="http://schemas.microsoft.com/office/drawing/2014/main" id="{3E858607-BB31-19D1-266B-6D78F2B6C92F}"/>
              </a:ext>
            </a:extLst>
          </p:cNvPr>
          <p:cNvSpPr>
            <a:spLocks noGrp="1"/>
          </p:cNvSpPr>
          <p:nvPr>
            <p:ph type="body" idx="1"/>
          </p:nvPr>
        </p:nvSpPr>
        <p:spPr>
          <a:xfrm>
            <a:off x="186957" y="787484"/>
            <a:ext cx="10515600" cy="1500187"/>
          </a:xfrm>
        </p:spPr>
        <p:txBody>
          <a:bodyPr/>
          <a:lstStyle/>
          <a:p>
            <a:r>
              <a:rPr kumimoji="1" lang="ja-JP" altLang="en-US" dirty="0"/>
              <a:t>全国大会</a:t>
            </a:r>
            <a:r>
              <a:rPr lang="ja-JP" altLang="en-US" dirty="0"/>
              <a:t>で使用したロボット</a:t>
            </a:r>
            <a:r>
              <a:rPr kumimoji="1" lang="ja-JP" altLang="en-US" dirty="0"/>
              <a:t>⇒世界大会で使用したロボット</a:t>
            </a:r>
          </a:p>
        </p:txBody>
      </p:sp>
    </p:spTree>
    <p:extLst>
      <p:ext uri="{BB962C8B-B14F-4D97-AF65-F5344CB8AC3E}">
        <p14:creationId xmlns:p14="http://schemas.microsoft.com/office/powerpoint/2010/main" val="25748202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7B6B63-39C3-0621-AEF9-9FC74F652B24}"/>
              </a:ext>
            </a:extLst>
          </p:cNvPr>
          <p:cNvSpPr>
            <a:spLocks noGrp="1"/>
          </p:cNvSpPr>
          <p:nvPr>
            <p:ph type="title"/>
          </p:nvPr>
        </p:nvSpPr>
        <p:spPr>
          <a:xfrm>
            <a:off x="576943" y="1050925"/>
            <a:ext cx="10515600" cy="1325563"/>
          </a:xfrm>
        </p:spPr>
        <p:txBody>
          <a:bodyPr>
            <a:normAutofit fontScale="90000"/>
          </a:bodyPr>
          <a:lstStyle/>
          <a:p>
            <a:r>
              <a:rPr lang="en-US" altLang="ja-JP" dirty="0"/>
              <a:t>2</a:t>
            </a:r>
            <a:r>
              <a:rPr lang="ja-JP" altLang="en-US" dirty="0"/>
              <a:t>台とも同じ設計にするメリット</a:t>
            </a:r>
            <a:br>
              <a:rPr lang="ja-JP" altLang="en-US" dirty="0"/>
            </a:br>
            <a:br>
              <a:rPr lang="ja-JP" altLang="en-US" dirty="0"/>
            </a:br>
            <a:endParaRPr kumimoji="1" lang="ja-JP" altLang="en-US" dirty="0"/>
          </a:p>
        </p:txBody>
      </p:sp>
      <p:sp>
        <p:nvSpPr>
          <p:cNvPr id="5" name="テキスト ボックス 4">
            <a:extLst>
              <a:ext uri="{FF2B5EF4-FFF2-40B4-BE49-F238E27FC236}">
                <a16:creationId xmlns:a16="http://schemas.microsoft.com/office/drawing/2014/main" id="{742B4BE1-A8A7-4D3E-7322-A962BBE70502}"/>
              </a:ext>
            </a:extLst>
          </p:cNvPr>
          <p:cNvSpPr txBox="1"/>
          <p:nvPr/>
        </p:nvSpPr>
        <p:spPr>
          <a:xfrm>
            <a:off x="576943" y="1951672"/>
            <a:ext cx="6096000" cy="1477328"/>
          </a:xfrm>
          <a:prstGeom prst="rect">
            <a:avLst/>
          </a:prstGeom>
          <a:noFill/>
        </p:spPr>
        <p:txBody>
          <a:bodyPr wrap="square">
            <a:spAutoFit/>
          </a:bodyPr>
          <a:lstStyle/>
          <a:p>
            <a:pPr rtl="0">
              <a:buNone/>
            </a:pPr>
            <a:r>
              <a:rPr lang="ja-JP" altLang="en-US" sz="1800" b="0" i="0" u="none" strike="noStrike" dirty="0">
                <a:solidFill>
                  <a:srgbClr val="000000"/>
                </a:solidFill>
                <a:effectLst/>
                <a:latin typeface="Arial" panose="020B0604020202020204" pitchFamily="34" charset="0"/>
              </a:rPr>
              <a:t>部品の管理が楽</a:t>
            </a:r>
            <a:endParaRPr lang="ja-JP" altLang="en-US" b="0" dirty="0">
              <a:effectLst/>
            </a:endParaRPr>
          </a:p>
          <a:p>
            <a:pPr rtl="0">
              <a:buNone/>
            </a:pPr>
            <a:br>
              <a:rPr lang="ja-JP" altLang="en-US" b="0" dirty="0">
                <a:effectLst/>
              </a:rPr>
            </a:br>
            <a:r>
              <a:rPr lang="ja-JP" altLang="en-US" sz="1800" b="0" i="0" u="none" strike="noStrike" dirty="0">
                <a:solidFill>
                  <a:srgbClr val="000000"/>
                </a:solidFill>
                <a:effectLst/>
                <a:latin typeface="Arial" panose="020B0604020202020204" pitchFamily="34" charset="0"/>
              </a:rPr>
              <a:t>予備部品がどちらのロボットにも使える</a:t>
            </a:r>
            <a:endParaRPr lang="ja-JP" altLang="en-US" b="0" dirty="0">
              <a:effectLst/>
            </a:endParaRPr>
          </a:p>
          <a:p>
            <a:pPr>
              <a:buNone/>
            </a:pPr>
            <a:br>
              <a:rPr lang="ja-JP" altLang="en-US" dirty="0"/>
            </a:br>
            <a:endParaRPr lang="ja-JP" altLang="en-US" dirty="0"/>
          </a:p>
        </p:txBody>
      </p:sp>
    </p:spTree>
    <p:extLst>
      <p:ext uri="{BB962C8B-B14F-4D97-AF65-F5344CB8AC3E}">
        <p14:creationId xmlns:p14="http://schemas.microsoft.com/office/powerpoint/2010/main" val="1211997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4365F8A3-3582-821C-A7A8-8BAC2A40DE4B}"/>
              </a:ext>
            </a:extLst>
          </p:cNvPr>
          <p:cNvSpPr txBox="1"/>
          <p:nvPr/>
        </p:nvSpPr>
        <p:spPr>
          <a:xfrm>
            <a:off x="3048000" y="768350"/>
            <a:ext cx="6096000" cy="923330"/>
          </a:xfrm>
          <a:prstGeom prst="rect">
            <a:avLst/>
          </a:prstGeom>
          <a:noFill/>
        </p:spPr>
        <p:txBody>
          <a:bodyPr wrap="square">
            <a:spAutoFit/>
          </a:bodyPr>
          <a:lstStyle/>
          <a:p>
            <a:pPr algn="ctr" rtl="0">
              <a:buNone/>
            </a:pPr>
            <a:r>
              <a:rPr lang="en-US" altLang="ja-JP" sz="1800" b="0" i="0" u="none" strike="noStrike" dirty="0">
                <a:solidFill>
                  <a:srgbClr val="000000"/>
                </a:solidFill>
                <a:effectLst/>
                <a:latin typeface="Arial" panose="020B0604020202020204" pitchFamily="34" charset="0"/>
              </a:rPr>
              <a:t>Benefits of having the same design for both</a:t>
            </a:r>
            <a:endParaRPr lang="en-US" altLang="ja-JP" b="0" dirty="0">
              <a:effectLst/>
            </a:endParaRPr>
          </a:p>
          <a:p>
            <a:pPr>
              <a:buNone/>
            </a:pPr>
            <a:br>
              <a:rPr lang="en-US" altLang="ja-JP" dirty="0"/>
            </a:br>
            <a:endParaRPr lang="ja-JP" altLang="en-US" dirty="0"/>
          </a:p>
        </p:txBody>
      </p:sp>
      <p:sp>
        <p:nvSpPr>
          <p:cNvPr id="11" name="テキスト ボックス 10">
            <a:extLst>
              <a:ext uri="{FF2B5EF4-FFF2-40B4-BE49-F238E27FC236}">
                <a16:creationId xmlns:a16="http://schemas.microsoft.com/office/drawing/2014/main" id="{33DF2A13-B15B-2D51-F106-0DBBC10CA623}"/>
              </a:ext>
            </a:extLst>
          </p:cNvPr>
          <p:cNvSpPr txBox="1"/>
          <p:nvPr/>
        </p:nvSpPr>
        <p:spPr>
          <a:xfrm>
            <a:off x="603985" y="2690336"/>
            <a:ext cx="6097604" cy="1477328"/>
          </a:xfrm>
          <a:prstGeom prst="rect">
            <a:avLst/>
          </a:prstGeom>
          <a:noFill/>
        </p:spPr>
        <p:txBody>
          <a:bodyPr wrap="square">
            <a:spAutoFit/>
          </a:bodyPr>
          <a:lstStyle/>
          <a:p>
            <a:pPr rtl="0">
              <a:buNone/>
            </a:pPr>
            <a:r>
              <a:rPr lang="en-US" altLang="ja-JP" sz="1800" b="0" i="0" u="none" strike="noStrike" dirty="0">
                <a:solidFill>
                  <a:srgbClr val="000000"/>
                </a:solidFill>
                <a:effectLst/>
                <a:latin typeface="Arial" panose="020B0604020202020204" pitchFamily="34" charset="0"/>
              </a:rPr>
              <a:t>Easy parts management</a:t>
            </a:r>
            <a:endParaRPr lang="en-US" altLang="ja-JP" b="0" dirty="0">
              <a:effectLst/>
            </a:endParaRPr>
          </a:p>
          <a:p>
            <a:pPr rtl="0">
              <a:buNone/>
            </a:pPr>
            <a:br>
              <a:rPr lang="en-US" altLang="ja-JP" b="0" dirty="0">
                <a:effectLst/>
              </a:rPr>
            </a:br>
            <a:r>
              <a:rPr lang="en-US" altLang="ja-JP" sz="1800" b="0" i="0" u="none" strike="noStrike" dirty="0">
                <a:solidFill>
                  <a:srgbClr val="000000"/>
                </a:solidFill>
                <a:effectLst/>
                <a:latin typeface="Arial" panose="020B0604020202020204" pitchFamily="34" charset="0"/>
              </a:rPr>
              <a:t>Spare parts can be used for either robot</a:t>
            </a:r>
            <a:endParaRPr lang="en-US" altLang="ja-JP" b="0" dirty="0">
              <a:effectLst/>
            </a:endParaRPr>
          </a:p>
          <a:p>
            <a:pPr>
              <a:buNone/>
            </a:pPr>
            <a:br>
              <a:rPr lang="en-US" altLang="ja-JP" dirty="0"/>
            </a:br>
            <a:endParaRPr lang="ja-JP" altLang="en-US" dirty="0"/>
          </a:p>
        </p:txBody>
      </p:sp>
    </p:spTree>
    <p:extLst>
      <p:ext uri="{BB962C8B-B14F-4D97-AF65-F5344CB8AC3E}">
        <p14:creationId xmlns:p14="http://schemas.microsoft.com/office/powerpoint/2010/main" val="27276873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1">
            <a:extLst>
              <a:ext uri="{FF2B5EF4-FFF2-40B4-BE49-F238E27FC236}">
                <a16:creationId xmlns:a16="http://schemas.microsoft.com/office/drawing/2014/main" id="{749485A2-776D-E190-7276-CC423F06AE2E}"/>
              </a:ext>
            </a:extLst>
          </p:cNvPr>
          <p:cNvSpPr txBox="1">
            <a:spLocks/>
          </p:cNvSpPr>
          <p:nvPr/>
        </p:nvSpPr>
        <p:spPr>
          <a:xfrm>
            <a:off x="4264443" y="2758848"/>
            <a:ext cx="4272713" cy="84458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endParaRPr lang="ja-JP" altLang="en-US" sz="4000" b="1" dirty="0"/>
          </a:p>
        </p:txBody>
      </p:sp>
      <p:sp>
        <p:nvSpPr>
          <p:cNvPr id="9" name="正方形/長方形 8">
            <a:extLst>
              <a:ext uri="{FF2B5EF4-FFF2-40B4-BE49-F238E27FC236}">
                <a16:creationId xmlns:a16="http://schemas.microsoft.com/office/drawing/2014/main" id="{D25DB839-311A-3BA4-446B-45DE04A329A0}"/>
              </a:ext>
            </a:extLst>
          </p:cNvPr>
          <p:cNvSpPr/>
          <p:nvPr/>
        </p:nvSpPr>
        <p:spPr>
          <a:xfrm>
            <a:off x="397503" y="359683"/>
            <a:ext cx="4272712" cy="5636714"/>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kumimoji="1" lang="ja-JP" altLang="en-US"/>
          </a:p>
        </p:txBody>
      </p:sp>
      <p:sp>
        <p:nvSpPr>
          <p:cNvPr id="10" name="タイトル 1">
            <a:extLst>
              <a:ext uri="{FF2B5EF4-FFF2-40B4-BE49-F238E27FC236}">
                <a16:creationId xmlns:a16="http://schemas.microsoft.com/office/drawing/2014/main" id="{08DA8C4E-FF73-0479-A6A5-8BFB40483287}"/>
              </a:ext>
            </a:extLst>
          </p:cNvPr>
          <p:cNvSpPr txBox="1">
            <a:spLocks/>
          </p:cNvSpPr>
          <p:nvPr/>
        </p:nvSpPr>
        <p:spPr>
          <a:xfrm>
            <a:off x="477890" y="2449242"/>
            <a:ext cx="4272713" cy="84458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r>
              <a:rPr lang="en-US" altLang="ja-JP" sz="4000" b="1" dirty="0"/>
              <a:t>LCD</a:t>
            </a:r>
            <a:r>
              <a:rPr lang="ja-JP" altLang="en-US" sz="4000" b="1" dirty="0"/>
              <a:t>モニター写真</a:t>
            </a:r>
          </a:p>
        </p:txBody>
      </p:sp>
      <p:sp>
        <p:nvSpPr>
          <p:cNvPr id="19" name="正方形/長方形 18">
            <a:extLst>
              <a:ext uri="{FF2B5EF4-FFF2-40B4-BE49-F238E27FC236}">
                <a16:creationId xmlns:a16="http://schemas.microsoft.com/office/drawing/2014/main" id="{2931AB91-B06D-0440-28AB-DE261FD0F9A0}"/>
              </a:ext>
            </a:extLst>
          </p:cNvPr>
          <p:cNvSpPr/>
          <p:nvPr/>
        </p:nvSpPr>
        <p:spPr>
          <a:xfrm>
            <a:off x="7521785" y="359683"/>
            <a:ext cx="4272712" cy="5636714"/>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kumimoji="1" lang="ja-JP" altLang="en-US"/>
          </a:p>
        </p:txBody>
      </p:sp>
      <p:sp>
        <p:nvSpPr>
          <p:cNvPr id="20" name="タイトル 1">
            <a:extLst>
              <a:ext uri="{FF2B5EF4-FFF2-40B4-BE49-F238E27FC236}">
                <a16:creationId xmlns:a16="http://schemas.microsoft.com/office/drawing/2014/main" id="{1CA9898A-8C5D-C0D8-BA2A-41DED4BD9DF9}"/>
              </a:ext>
            </a:extLst>
          </p:cNvPr>
          <p:cNvSpPr txBox="1">
            <a:spLocks/>
          </p:cNvSpPr>
          <p:nvPr/>
        </p:nvSpPr>
        <p:spPr>
          <a:xfrm>
            <a:off x="7602172" y="2449242"/>
            <a:ext cx="4272713" cy="84458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r>
              <a:rPr lang="ja-JP" altLang="en-US" sz="4000" b="1" dirty="0"/>
              <a:t>値表示　写真</a:t>
            </a:r>
          </a:p>
        </p:txBody>
      </p:sp>
      <p:sp>
        <p:nvSpPr>
          <p:cNvPr id="21" name="矢印: 右 20">
            <a:extLst>
              <a:ext uri="{FF2B5EF4-FFF2-40B4-BE49-F238E27FC236}">
                <a16:creationId xmlns:a16="http://schemas.microsoft.com/office/drawing/2014/main" id="{F2F9B517-7260-EECB-76EA-BE4575F25A4A}"/>
              </a:ext>
            </a:extLst>
          </p:cNvPr>
          <p:cNvSpPr/>
          <p:nvPr/>
        </p:nvSpPr>
        <p:spPr>
          <a:xfrm>
            <a:off x="5282085" y="2489436"/>
            <a:ext cx="1708219" cy="1505220"/>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Tree>
    <p:extLst>
      <p:ext uri="{BB962C8B-B14F-4D97-AF65-F5344CB8AC3E}">
        <p14:creationId xmlns:p14="http://schemas.microsoft.com/office/powerpoint/2010/main" val="41352991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617A0-0D0A-493C-1F04-6CE9D4CFA104}"/>
            </a:ext>
          </a:extLst>
        </p:cNvPr>
        <p:cNvGrpSpPr/>
        <p:nvPr/>
      </p:nvGrpSpPr>
      <p:grpSpPr>
        <a:xfrm>
          <a:off x="0" y="0"/>
          <a:ext cx="0" cy="0"/>
          <a:chOff x="0" y="0"/>
          <a:chExt cx="0" cy="0"/>
        </a:xfrm>
      </p:grpSpPr>
      <p:sp>
        <p:nvSpPr>
          <p:cNvPr id="8" name="タイトル 1">
            <a:extLst>
              <a:ext uri="{FF2B5EF4-FFF2-40B4-BE49-F238E27FC236}">
                <a16:creationId xmlns:a16="http://schemas.microsoft.com/office/drawing/2014/main" id="{69580884-4794-C687-ED27-89DAE3CCC8C1}"/>
              </a:ext>
            </a:extLst>
          </p:cNvPr>
          <p:cNvSpPr txBox="1">
            <a:spLocks/>
          </p:cNvSpPr>
          <p:nvPr/>
        </p:nvSpPr>
        <p:spPr>
          <a:xfrm>
            <a:off x="4264443" y="2758848"/>
            <a:ext cx="4272713" cy="84458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endParaRPr lang="ja-JP" altLang="en-US" sz="4000" b="1" dirty="0"/>
          </a:p>
        </p:txBody>
      </p:sp>
      <p:sp>
        <p:nvSpPr>
          <p:cNvPr id="9" name="正方形/長方形 8">
            <a:extLst>
              <a:ext uri="{FF2B5EF4-FFF2-40B4-BE49-F238E27FC236}">
                <a16:creationId xmlns:a16="http://schemas.microsoft.com/office/drawing/2014/main" id="{71094573-2C1E-4984-9897-2BB95FB329C5}"/>
              </a:ext>
            </a:extLst>
          </p:cNvPr>
          <p:cNvSpPr/>
          <p:nvPr/>
        </p:nvSpPr>
        <p:spPr>
          <a:xfrm>
            <a:off x="397503" y="359683"/>
            <a:ext cx="4272712" cy="5636714"/>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kumimoji="1" lang="ja-JP" altLang="en-US"/>
          </a:p>
        </p:txBody>
      </p:sp>
      <p:sp>
        <p:nvSpPr>
          <p:cNvPr id="10" name="タイトル 1">
            <a:extLst>
              <a:ext uri="{FF2B5EF4-FFF2-40B4-BE49-F238E27FC236}">
                <a16:creationId xmlns:a16="http://schemas.microsoft.com/office/drawing/2014/main" id="{1698A0B7-ACE6-656B-B082-E774F3B97ACA}"/>
              </a:ext>
            </a:extLst>
          </p:cNvPr>
          <p:cNvSpPr txBox="1">
            <a:spLocks/>
          </p:cNvSpPr>
          <p:nvPr/>
        </p:nvSpPr>
        <p:spPr>
          <a:xfrm>
            <a:off x="477890" y="2449242"/>
            <a:ext cx="4272713" cy="84458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r>
              <a:rPr lang="en-US" altLang="ja-JP" sz="4000" b="1" dirty="0"/>
              <a:t>LCD</a:t>
            </a:r>
            <a:endParaRPr lang="ja-JP" altLang="en-US" sz="4000" b="1" dirty="0"/>
          </a:p>
        </p:txBody>
      </p:sp>
      <p:sp>
        <p:nvSpPr>
          <p:cNvPr id="19" name="正方形/長方形 18">
            <a:extLst>
              <a:ext uri="{FF2B5EF4-FFF2-40B4-BE49-F238E27FC236}">
                <a16:creationId xmlns:a16="http://schemas.microsoft.com/office/drawing/2014/main" id="{F1A78589-28C5-4FCC-423F-E94E20BDC3CA}"/>
              </a:ext>
            </a:extLst>
          </p:cNvPr>
          <p:cNvSpPr/>
          <p:nvPr/>
        </p:nvSpPr>
        <p:spPr>
          <a:xfrm>
            <a:off x="7521785" y="359683"/>
            <a:ext cx="4272712" cy="5636714"/>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kumimoji="1" lang="ja-JP" altLang="en-US" dirty="0"/>
          </a:p>
        </p:txBody>
      </p:sp>
      <p:sp>
        <p:nvSpPr>
          <p:cNvPr id="20" name="タイトル 1">
            <a:extLst>
              <a:ext uri="{FF2B5EF4-FFF2-40B4-BE49-F238E27FC236}">
                <a16:creationId xmlns:a16="http://schemas.microsoft.com/office/drawing/2014/main" id="{2ED0A243-1169-7CC7-729E-C6A5DE16BCCD}"/>
              </a:ext>
            </a:extLst>
          </p:cNvPr>
          <p:cNvSpPr txBox="1">
            <a:spLocks/>
          </p:cNvSpPr>
          <p:nvPr/>
        </p:nvSpPr>
        <p:spPr>
          <a:xfrm>
            <a:off x="7602172" y="2449242"/>
            <a:ext cx="4272713" cy="84458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r>
              <a:rPr lang="en-US" altLang="ja-JP" sz="4000" b="1" dirty="0"/>
              <a:t>Sensor  fig</a:t>
            </a:r>
            <a:endParaRPr lang="ja-JP" altLang="en-US" sz="4000" b="1" dirty="0"/>
          </a:p>
        </p:txBody>
      </p:sp>
      <p:sp>
        <p:nvSpPr>
          <p:cNvPr id="21" name="矢印: 右 20">
            <a:extLst>
              <a:ext uri="{FF2B5EF4-FFF2-40B4-BE49-F238E27FC236}">
                <a16:creationId xmlns:a16="http://schemas.microsoft.com/office/drawing/2014/main" id="{80569F34-EB8E-C7E2-1DA2-B79959307DF1}"/>
              </a:ext>
            </a:extLst>
          </p:cNvPr>
          <p:cNvSpPr/>
          <p:nvPr/>
        </p:nvSpPr>
        <p:spPr>
          <a:xfrm>
            <a:off x="5282085" y="2489436"/>
            <a:ext cx="1708219" cy="1505220"/>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Tree>
    <p:extLst>
      <p:ext uri="{BB962C8B-B14F-4D97-AF65-F5344CB8AC3E}">
        <p14:creationId xmlns:p14="http://schemas.microsoft.com/office/powerpoint/2010/main" val="940728752"/>
      </p:ext>
    </p:extLst>
  </p:cSld>
  <p:clrMapOvr>
    <a:masterClrMapping/>
  </p:clrMapOvr>
</p:sld>
</file>

<file path=ppt/theme/theme1.xml><?xml version="1.0" encoding="utf-8"?>
<a:theme xmlns:a="http://schemas.openxmlformats.org/drawingml/2006/main" name="Office テーマ">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639</TotalTime>
  <Words>412</Words>
  <Application>Microsoft Office PowerPoint</Application>
  <PresentationFormat>ワイド画面</PresentationFormat>
  <Paragraphs>74</Paragraphs>
  <Slides>17</Slides>
  <Notes>12</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17</vt:i4>
      </vt:variant>
    </vt:vector>
  </HeadingPairs>
  <TitlesOfParts>
    <vt:vector size="22" baseType="lpstr">
      <vt:lpstr>游ゴシック</vt:lpstr>
      <vt:lpstr>Aptos</vt:lpstr>
      <vt:lpstr>Aptos Display</vt:lpstr>
      <vt:lpstr>Arial</vt:lpstr>
      <vt:lpstr>Office テーマ</vt:lpstr>
      <vt:lpstr>スライド 全国のロボット紹介 OLEDディスプレイについて</vt:lpstr>
      <vt:lpstr>全国大会のロボット</vt:lpstr>
      <vt:lpstr>Our team’s National tournament robots</vt:lpstr>
      <vt:lpstr>PowerPoint プレゼンテーション</vt:lpstr>
      <vt:lpstr>PowerPoint プレゼンテーション</vt:lpstr>
      <vt:lpstr>末広が作ってたライントレースの図挿入</vt:lpstr>
      <vt:lpstr>Keeper fig</vt:lpstr>
      <vt:lpstr>　 ＊ラインセンサの　　　　　　 写真</vt:lpstr>
      <vt:lpstr>　 ＊Attacker’s line sensor fig </vt:lpstr>
      <vt:lpstr>PowerPoint プレゼンテーション</vt:lpstr>
      <vt:lpstr>PowerPoint プレゼンテーション</vt:lpstr>
      <vt:lpstr>Fusion写真</vt:lpstr>
      <vt:lpstr>Fusion写真</vt:lpstr>
      <vt:lpstr>2台とも同じ設計にするメリット  </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海 藤田</dc:creator>
  <cp:lastModifiedBy>Maiki kimura</cp:lastModifiedBy>
  <cp:revision>29</cp:revision>
  <dcterms:created xsi:type="dcterms:W3CDTF">2025-07-13T14:02:11Z</dcterms:created>
  <dcterms:modified xsi:type="dcterms:W3CDTF">2025-07-14T13:15:15Z</dcterms:modified>
</cp:coreProperties>
</file>