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161" autoAdjust="0"/>
    <p:restoredTop sz="93862" autoAdjust="0"/>
  </p:normalViewPr>
  <p:slideViewPr>
    <p:cSldViewPr snapToGrid="0">
      <p:cViewPr>
        <p:scale>
          <a:sx n="200" d="100"/>
          <a:sy n="200" d="100"/>
        </p:scale>
        <p:origin x="-2556" y="-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2675B1-A17B-C8F8-EEC5-90B1ADE80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CA505B2-6147-AA6B-0670-F8A457F34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2E553D-87E2-151C-8AD9-FBC8AAB38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840D63-3448-6050-6A29-B3826D43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C1B322-3F0E-7591-C871-0B478BF19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897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624A30-AA8B-665A-CCC3-97CB8441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9D2357-26D2-70C2-B9C2-9CD30270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694CD1-F1A3-C71E-F01D-602B1746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28200B-C7E1-A728-BCA7-7F34990B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2A5671-C5B4-782A-AB67-398A057B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151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75FAEB-3FFF-5AA5-1079-8445D628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2821BE-7732-A750-F444-141404FFA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EF030C-1A2D-0E66-3AB6-83DAE81E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909D3-040A-B57E-819C-A1B7FF26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A7DA8F-ABA9-FFDC-9CB8-6E7BB260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658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115817-CFC6-275D-CEAA-B3F6AA69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3582BC-8F50-6409-9F39-8BA17B92A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BF1F8E-5C23-9804-12FA-D0B8EFE45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544102-6DA9-B6D4-AEC6-FFBE3514C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EC382EA-0C33-0A36-22F2-C6F86C42A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FAE2E4-07DE-A180-513D-92D1A566E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88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CACF3C-C4BF-9A41-FF4D-866372D8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68E157-6FC9-1AD6-B6CA-12C3948F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F3B383-FCB9-23B6-6CDF-F1BBC3DDA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50457C-43D2-1F23-0797-E82853AC8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295D548-3B5E-465D-AD78-1250497E9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E917B1D-E716-4F36-B2FA-3473F5D5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9EDBB6B-09ED-5AE5-5FB8-E1756B2D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F781E44-4AC0-6E73-4AD1-AB440ECA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52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7B13AF-9C5F-908D-7287-0D6349DE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1A0E9E5-29C3-009F-648F-50B8C9D29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53950F6-3C69-D27F-A906-30FCF66BC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53E212-502C-61CD-63EC-434B338D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39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4E2466F-5DCD-A7CA-1CBB-32C060C12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88B41F-6DFD-2937-69FB-867747D0C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DE3653-C051-6205-E81A-763BC48C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626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34FB67-0CE7-FAC3-C276-B1B1FB958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FD32D6-DF1B-49CB-FEE4-34748D502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F62B5E2-A69E-2C17-8DF9-6C9A5FEDB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3F4D88-161A-A440-6DD7-FBEE05748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313564-C092-770C-7125-EC226A78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7EBB29-F7F2-9D39-E6F8-D404B91B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271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8634B5-1FAB-F0BF-F3DF-C3BAA844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DA9F7E8-9CDF-03F1-6F90-5C42AB90F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CAAFB7-EBCC-D840-A11E-3769B71A7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F5D5B0-4362-972D-163E-B8E97C48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B94A6A-6543-3651-CC28-32DAE2F3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D5D849C-7389-4E08-874D-56F4CDB8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160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B08F0D-660E-3A1F-29A3-60E1743F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64EF48-E71B-5E2B-66D1-5CF58BAFF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E31E1F-C90C-7BC3-1071-72E32CD0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7782AB-B9AB-9445-7795-76AD03F6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6D6FD3-A51E-8F62-A5DB-74EFFA04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69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BFF0066-741E-68A3-0678-79910C0972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F5CDDC-CB9D-C32B-FF5B-D2879E9FA5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EED3DE-E228-B991-9ED8-D471FC1C9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10CAF7-022A-2A68-8535-82441250B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7B50B5-75FF-F09D-112C-26CD3CBF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914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976C66F-52DA-01FA-7825-007DAAE1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38B61A-EA3E-7B03-336A-E4FFD65B2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D03D5F-32FF-DEB9-3E4E-1E330FE5B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267E0-9CB4-4F6F-9626-50E92271D8D4}" type="datetimeFigureOut">
              <a:rPr kumimoji="1" lang="ja-JP" altLang="en-US" smtClean="0"/>
              <a:t>2025/2/24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1D20D7-A86A-8B79-A131-D2DD9D151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843DD3-4D0E-9E1E-6848-1593084E9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8EAE00-62C2-4573-B1C5-77D8F1479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12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710A1C8-4E57-75EC-051C-863FAAA9EF15}"/>
              </a:ext>
            </a:extLst>
          </p:cNvPr>
          <p:cNvSpPr/>
          <p:nvPr/>
        </p:nvSpPr>
        <p:spPr>
          <a:xfrm>
            <a:off x="4092983" y="2882506"/>
            <a:ext cx="2594841" cy="1098788"/>
          </a:xfrm>
          <a:prstGeom prst="roundRect">
            <a:avLst>
              <a:gd name="adj" fmla="val 10146"/>
            </a:avLst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2A7708-3A13-0D28-ED2D-7A76B35DE21D}"/>
              </a:ext>
            </a:extLst>
          </p:cNvPr>
          <p:cNvSpPr/>
          <p:nvPr/>
        </p:nvSpPr>
        <p:spPr>
          <a:xfrm>
            <a:off x="4226338" y="2792554"/>
            <a:ext cx="449824" cy="225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F475590-C5EA-975A-0732-7B781B967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644" y="533574"/>
            <a:ext cx="760565" cy="760565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21A6631-5109-B8EC-4E0D-BF5D8BEDBA6A}"/>
              </a:ext>
            </a:extLst>
          </p:cNvPr>
          <p:cNvCxnSpPr>
            <a:cxnSpLocks/>
          </p:cNvCxnSpPr>
          <p:nvPr/>
        </p:nvCxnSpPr>
        <p:spPr>
          <a:xfrm>
            <a:off x="4181946" y="300409"/>
            <a:ext cx="122758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フローチャート: 結合子 7">
            <a:extLst>
              <a:ext uri="{FF2B5EF4-FFF2-40B4-BE49-F238E27FC236}">
                <a16:creationId xmlns:a16="http://schemas.microsoft.com/office/drawing/2014/main" id="{36167E15-908E-121E-BBA0-7D8EE6DEFA21}"/>
              </a:ext>
            </a:extLst>
          </p:cNvPr>
          <p:cNvSpPr/>
          <p:nvPr/>
        </p:nvSpPr>
        <p:spPr>
          <a:xfrm>
            <a:off x="4103850" y="142493"/>
            <a:ext cx="171023" cy="18870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ローチャート: 結合子 8">
            <a:extLst>
              <a:ext uri="{FF2B5EF4-FFF2-40B4-BE49-F238E27FC236}">
                <a16:creationId xmlns:a16="http://schemas.microsoft.com/office/drawing/2014/main" id="{812DF825-ED1D-1C7C-99B0-8435C86FC0F3}"/>
              </a:ext>
            </a:extLst>
          </p:cNvPr>
          <p:cNvSpPr/>
          <p:nvPr/>
        </p:nvSpPr>
        <p:spPr>
          <a:xfrm>
            <a:off x="5323056" y="144874"/>
            <a:ext cx="171023" cy="188704"/>
          </a:xfrm>
          <a:prstGeom prst="flowChartConnector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00EE3A6-E387-8356-EDB7-0FA4858ED15D}"/>
              </a:ext>
            </a:extLst>
          </p:cNvPr>
          <p:cNvSpPr/>
          <p:nvPr/>
        </p:nvSpPr>
        <p:spPr>
          <a:xfrm>
            <a:off x="4119244" y="516442"/>
            <a:ext cx="4571706" cy="781248"/>
          </a:xfrm>
          <a:prstGeom prst="roundRect">
            <a:avLst/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pic>
        <p:nvPicPr>
          <p:cNvPr id="13" name="Google Shape;175;p13">
            <a:extLst>
              <a:ext uri="{FF2B5EF4-FFF2-40B4-BE49-F238E27FC236}">
                <a16:creationId xmlns:a16="http://schemas.microsoft.com/office/drawing/2014/main" id="{7EFC8D41-9DE8-E95D-F509-CAFCCB7791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049" t="9062" r="21119" b="8980"/>
          <a:stretch/>
        </p:blipFill>
        <p:spPr>
          <a:xfrm>
            <a:off x="6323118" y="797744"/>
            <a:ext cx="346491" cy="35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93;p13">
            <a:extLst>
              <a:ext uri="{FF2B5EF4-FFF2-40B4-BE49-F238E27FC236}">
                <a16:creationId xmlns:a16="http://schemas.microsoft.com/office/drawing/2014/main" id="{B2C4CB1C-AD4E-BC4A-C28E-4B080BDAE35C}"/>
              </a:ext>
            </a:extLst>
          </p:cNvPr>
          <p:cNvSpPr txBox="1"/>
          <p:nvPr/>
        </p:nvSpPr>
        <p:spPr>
          <a:xfrm>
            <a:off x="6681497" y="852700"/>
            <a:ext cx="1292956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sz="900" b="0" i="0" u="none" strike="noStrike" cap="none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@Munako_Aegis</a:t>
            </a:r>
            <a:endParaRPr sz="900" b="0" i="0" u="none" strike="noStrike" cap="none">
              <a:solidFill>
                <a:srgbClr val="000000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eiryo"/>
              <a:sym typeface="Meiryo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B8612C8-3559-4935-675C-100B878983E6}"/>
              </a:ext>
            </a:extLst>
          </p:cNvPr>
          <p:cNvSpPr/>
          <p:nvPr/>
        </p:nvSpPr>
        <p:spPr>
          <a:xfrm>
            <a:off x="4246761" y="379525"/>
            <a:ext cx="635592" cy="2793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6" name="Google Shape;94;p13">
            <a:extLst>
              <a:ext uri="{FF2B5EF4-FFF2-40B4-BE49-F238E27FC236}">
                <a16:creationId xmlns:a16="http://schemas.microsoft.com/office/drawing/2014/main" id="{231831D8-F18D-3681-02F7-B3B1DA594941}"/>
              </a:ext>
            </a:extLst>
          </p:cNvPr>
          <p:cNvSpPr txBox="1"/>
          <p:nvPr/>
        </p:nvSpPr>
        <p:spPr>
          <a:xfrm>
            <a:off x="4226609" y="355311"/>
            <a:ext cx="714361" cy="35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100" tIns="61525" rIns="123100" bIns="615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1500" b="1">
                <a:solidFill>
                  <a:srgbClr val="00B0F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D</a:t>
            </a:r>
            <a:r>
              <a:rPr lang="en-US" sz="1000" b="1">
                <a:solidFill>
                  <a:srgbClr val="00B0F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etail</a:t>
            </a:r>
            <a:endParaRPr sz="1000" b="1" i="0" strike="noStrike" cap="none">
              <a:solidFill>
                <a:srgbClr val="00B0F0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eiryo"/>
              <a:sym typeface="Meiryo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BC761FBF-11E7-CA5F-9196-D971B0EB527B}"/>
              </a:ext>
            </a:extLst>
          </p:cNvPr>
          <p:cNvSpPr/>
          <p:nvPr/>
        </p:nvSpPr>
        <p:spPr>
          <a:xfrm>
            <a:off x="6795024" y="1437826"/>
            <a:ext cx="1881254" cy="2540322"/>
          </a:xfrm>
          <a:prstGeom prst="roundRect">
            <a:avLst>
              <a:gd name="adj" fmla="val 11572"/>
            </a:avLst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67F4BD09-1298-A89F-CAC9-F20300A13E1A}"/>
              </a:ext>
            </a:extLst>
          </p:cNvPr>
          <p:cNvSpPr/>
          <p:nvPr/>
        </p:nvSpPr>
        <p:spPr>
          <a:xfrm>
            <a:off x="4125485" y="1420861"/>
            <a:ext cx="2579942" cy="1338474"/>
          </a:xfrm>
          <a:prstGeom prst="roundRect">
            <a:avLst>
              <a:gd name="adj" fmla="val 10146"/>
            </a:avLst>
          </a:prstGeom>
          <a:noFill/>
          <a:ln w="95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19" name="Google Shape;120;p13">
            <a:extLst>
              <a:ext uri="{FF2B5EF4-FFF2-40B4-BE49-F238E27FC236}">
                <a16:creationId xmlns:a16="http://schemas.microsoft.com/office/drawing/2014/main" id="{15314CA8-E6B4-E093-9ADC-67580628BD01}"/>
              </a:ext>
            </a:extLst>
          </p:cNvPr>
          <p:cNvSpPr txBox="1"/>
          <p:nvPr/>
        </p:nvSpPr>
        <p:spPr>
          <a:xfrm>
            <a:off x="4167230" y="671398"/>
            <a:ext cx="628506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800" b="1" i="0" u="none" strike="noStrike" cap="none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所属</a:t>
            </a:r>
            <a:r>
              <a:rPr lang="ja-JP" altLang="en-US" sz="800" b="1"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 </a:t>
            </a:r>
            <a:r>
              <a:rPr lang="ja-JP" altLang="en-US" sz="800" i="0" u="none" strike="noStrike" cap="none">
                <a:solidFill>
                  <a:srgbClr val="00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：</a:t>
            </a:r>
            <a:endParaRPr sz="700" b="1" i="0" u="none" strike="noStrike" cap="none">
              <a:solidFill>
                <a:srgbClr val="000000"/>
              </a:solidFill>
              <a:latin typeface="游ゴシック" panose="020B0400000000000000" pitchFamily="50" charset="-128"/>
              <a:ea typeface="游ゴシック" panose="020B0400000000000000" pitchFamily="50" charset="-128"/>
              <a:sym typeface="Arial"/>
            </a:endParaRPr>
          </a:p>
        </p:txBody>
      </p:sp>
      <p:sp>
        <p:nvSpPr>
          <p:cNvPr id="20" name="Google Shape;121;p13">
            <a:extLst>
              <a:ext uri="{FF2B5EF4-FFF2-40B4-BE49-F238E27FC236}">
                <a16:creationId xmlns:a16="http://schemas.microsoft.com/office/drawing/2014/main" id="{F97FFA1B-8F84-BA41-032D-D08AB8A5BC66}"/>
              </a:ext>
            </a:extLst>
          </p:cNvPr>
          <p:cNvSpPr txBox="1"/>
          <p:nvPr/>
        </p:nvSpPr>
        <p:spPr>
          <a:xfrm>
            <a:off x="4615216" y="654988"/>
            <a:ext cx="1715500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ja-JP" sz="700" b="0" i="0" u="none" strike="noStrike" cap="none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福岡ノード/九州ブロック</a:t>
            </a:r>
            <a:endParaRPr sz="700" b="0" i="0" u="none" strike="noStrike" cap="none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  <a:sym typeface="Arial"/>
            </a:endParaRPr>
          </a:p>
        </p:txBody>
      </p:sp>
      <p:sp>
        <p:nvSpPr>
          <p:cNvPr id="21" name="テキスト ボックス 11">
            <a:extLst>
              <a:ext uri="{FF2B5EF4-FFF2-40B4-BE49-F238E27FC236}">
                <a16:creationId xmlns:a16="http://schemas.microsoft.com/office/drawing/2014/main" id="{C4FB6206-9597-B53B-D6A1-6854CC065FB2}"/>
              </a:ext>
            </a:extLst>
          </p:cNvPr>
          <p:cNvSpPr txBox="1"/>
          <p:nvPr/>
        </p:nvSpPr>
        <p:spPr>
          <a:xfrm>
            <a:off x="7109421" y="1730333"/>
            <a:ext cx="60131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500">
                <a:latin typeface="游ゴシック" panose="020B0400000000000000" pitchFamily="50" charset="-128"/>
                <a:ea typeface="游ゴシック" panose="020B0400000000000000" pitchFamily="50" charset="-128"/>
              </a:rPr>
              <a:t>Suehiro Koki   </a:t>
            </a:r>
            <a:endParaRPr kumimoji="1" lang="ja-JP" altLang="en-US" sz="5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3780E85D-892A-DE31-F94D-36E885CEC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4867" y="907837"/>
            <a:ext cx="915387" cy="196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Google Shape;94;p13">
            <a:extLst>
              <a:ext uri="{FF2B5EF4-FFF2-40B4-BE49-F238E27FC236}">
                <a16:creationId xmlns:a16="http://schemas.microsoft.com/office/drawing/2014/main" id="{E8B94788-114C-062C-B9E0-19DE792A3753}"/>
              </a:ext>
            </a:extLst>
          </p:cNvPr>
          <p:cNvSpPr txBox="1"/>
          <p:nvPr/>
        </p:nvSpPr>
        <p:spPr>
          <a:xfrm>
            <a:off x="4132000" y="876065"/>
            <a:ext cx="1241915" cy="24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100" tIns="61525" rIns="123100" bIns="615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ja-JP" altLang="en-US" sz="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スポンサー  </a:t>
            </a:r>
            <a:r>
              <a:rPr lang="en-US" altLang="ja-JP" sz="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 </a:t>
            </a:r>
            <a:endParaRPr sz="800" b="1" i="0" strike="noStrike" cap="none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eiryo"/>
              <a:sym typeface="Meiryo"/>
            </a:endParaRPr>
          </a:p>
        </p:txBody>
      </p:sp>
      <p:sp>
        <p:nvSpPr>
          <p:cNvPr id="24" name="テキスト ボックス 68">
            <a:extLst>
              <a:ext uri="{FF2B5EF4-FFF2-40B4-BE49-F238E27FC236}">
                <a16:creationId xmlns:a16="http://schemas.microsoft.com/office/drawing/2014/main" id="{76CFA48B-7BCD-C292-106D-1539997989A6}"/>
              </a:ext>
            </a:extLst>
          </p:cNvPr>
          <p:cNvSpPr txBox="1"/>
          <p:nvPr/>
        </p:nvSpPr>
        <p:spPr>
          <a:xfrm>
            <a:off x="4210069" y="994368"/>
            <a:ext cx="1313607" cy="2799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/>
              <a:t> </a:t>
            </a:r>
            <a:r>
              <a:rPr lang="ja-JP" altLang="en-US" sz="700">
                <a:latin typeface="游ゴシック" panose="020B0400000000000000" pitchFamily="50" charset="-128"/>
                <a:ea typeface="游ゴシック" panose="020B0400000000000000" pitchFamily="50" charset="-128"/>
              </a:rPr>
              <a:t>基板を提供してくださってます。</a:t>
            </a:r>
            <a:endParaRPr kumimoji="1" lang="ja-JP" altLang="en-US" sz="7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テキスト ボックス 69">
            <a:extLst>
              <a:ext uri="{FF2B5EF4-FFF2-40B4-BE49-F238E27FC236}">
                <a16:creationId xmlns:a16="http://schemas.microsoft.com/office/drawing/2014/main" id="{056E0A78-0B1A-37BC-1E93-10DA4654ED74}"/>
              </a:ext>
            </a:extLst>
          </p:cNvPr>
          <p:cNvSpPr txBox="1"/>
          <p:nvPr/>
        </p:nvSpPr>
        <p:spPr>
          <a:xfrm>
            <a:off x="6249990" y="574478"/>
            <a:ext cx="1010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800" b="1">
                <a:latin typeface="游ゴシック" panose="020B0400000000000000" pitchFamily="50" charset="-128"/>
                <a:ea typeface="游ゴシック" panose="020B0400000000000000" pitchFamily="50" charset="-128"/>
              </a:rPr>
              <a:t>チームアカウント</a:t>
            </a:r>
            <a:endParaRPr kumimoji="1" lang="ja-JP" altLang="en-US" sz="800" b="1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6" name="テキスト ボックス 75">
            <a:extLst>
              <a:ext uri="{FF2B5EF4-FFF2-40B4-BE49-F238E27FC236}">
                <a16:creationId xmlns:a16="http://schemas.microsoft.com/office/drawing/2014/main" id="{43153FB5-798F-5291-2101-D91DE7090261}"/>
              </a:ext>
            </a:extLst>
          </p:cNvPr>
          <p:cNvSpPr txBox="1"/>
          <p:nvPr/>
        </p:nvSpPr>
        <p:spPr>
          <a:xfrm>
            <a:off x="6786574" y="1579867"/>
            <a:ext cx="976734" cy="214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800" b="1">
                <a:latin typeface="游ゴシック" panose="020B0400000000000000" pitchFamily="50" charset="-128"/>
                <a:ea typeface="游ゴシック" panose="020B0400000000000000" pitchFamily="50" charset="-128"/>
              </a:rPr>
              <a:t>ソフトウェア</a:t>
            </a:r>
          </a:p>
        </p:txBody>
      </p:sp>
      <p:sp>
        <p:nvSpPr>
          <p:cNvPr id="27" name="テキスト ボックス 76">
            <a:extLst>
              <a:ext uri="{FF2B5EF4-FFF2-40B4-BE49-F238E27FC236}">
                <a16:creationId xmlns:a16="http://schemas.microsoft.com/office/drawing/2014/main" id="{5259FEEF-D12B-306E-2568-287CEA5E8290}"/>
              </a:ext>
            </a:extLst>
          </p:cNvPr>
          <p:cNvSpPr txBox="1"/>
          <p:nvPr/>
        </p:nvSpPr>
        <p:spPr>
          <a:xfrm>
            <a:off x="6790953" y="2690499"/>
            <a:ext cx="976734" cy="2148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800" b="1"/>
              <a:t>ハード</a:t>
            </a:r>
            <a:r>
              <a:rPr kumimoji="1" lang="ja-JP" altLang="en-US" sz="800" b="1"/>
              <a:t>ウェア</a:t>
            </a:r>
          </a:p>
        </p:txBody>
      </p:sp>
      <p:pic>
        <p:nvPicPr>
          <p:cNvPr id="28" name="Picture 12">
            <a:extLst>
              <a:ext uri="{FF2B5EF4-FFF2-40B4-BE49-F238E27FC236}">
                <a16:creationId xmlns:a16="http://schemas.microsoft.com/office/drawing/2014/main" id="{BE5B7EB0-D7C6-8AA0-A3DC-163A818031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9" t="4367" r="5376" b="5160"/>
          <a:stretch/>
        </p:blipFill>
        <p:spPr bwMode="auto">
          <a:xfrm>
            <a:off x="6847773" y="1814454"/>
            <a:ext cx="321932" cy="319210"/>
          </a:xfrm>
          <a:prstGeom prst="ellipse">
            <a:avLst/>
          </a:prstGeom>
          <a:ln w="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4A6919D6-AAE2-5738-C4C0-0974B92E9D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/>
          <a:srcRect l="-1476" t="-1463" r="1476" b="15749"/>
          <a:stretch/>
        </p:blipFill>
        <p:spPr bwMode="auto">
          <a:xfrm>
            <a:off x="6855051" y="3549016"/>
            <a:ext cx="322737" cy="322737"/>
          </a:xfrm>
          <a:prstGeom prst="ellipse">
            <a:avLst/>
          </a:prstGeom>
          <a:ln w="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2">
            <a:extLst>
              <a:ext uri="{FF2B5EF4-FFF2-40B4-BE49-F238E27FC236}">
                <a16:creationId xmlns:a16="http://schemas.microsoft.com/office/drawing/2014/main" id="{0A9572D5-C106-9936-89B0-8E8DAE11C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9657" y="2951595"/>
            <a:ext cx="317657" cy="317657"/>
          </a:xfrm>
          <a:prstGeom prst="ellipse">
            <a:avLst/>
          </a:prstGeom>
          <a:ln w="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4">
            <a:extLst>
              <a:ext uri="{FF2B5EF4-FFF2-40B4-BE49-F238E27FC236}">
                <a16:creationId xmlns:a16="http://schemas.microsoft.com/office/drawing/2014/main" id="{C08F2E77-4F6A-19C6-5E56-B6FCBBDA8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122" y="2322172"/>
            <a:ext cx="325427" cy="325427"/>
          </a:xfrm>
          <a:prstGeom prst="ellipse">
            <a:avLst/>
          </a:prstGeom>
          <a:ln w="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テキスト ボックス 81">
            <a:extLst>
              <a:ext uri="{FF2B5EF4-FFF2-40B4-BE49-F238E27FC236}">
                <a16:creationId xmlns:a16="http://schemas.microsoft.com/office/drawing/2014/main" id="{26906FA8-47C4-5A83-ACA3-13180800D692}"/>
              </a:ext>
            </a:extLst>
          </p:cNvPr>
          <p:cNvSpPr txBox="1"/>
          <p:nvPr/>
        </p:nvSpPr>
        <p:spPr>
          <a:xfrm>
            <a:off x="7200203" y="1853600"/>
            <a:ext cx="386176" cy="107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700">
                <a:latin typeface="游ゴシック" panose="020B0400000000000000" pitchFamily="50" charset="-128"/>
                <a:ea typeface="游ゴシック" panose="020B0400000000000000" pitchFamily="50" charset="-128"/>
              </a:rPr>
              <a:t>末広 </a:t>
            </a:r>
            <a:r>
              <a:rPr lang="ja-JP" altLang="en-US" sz="700">
                <a:latin typeface="游ゴシック" panose="020B0400000000000000" pitchFamily="50" charset="-128"/>
                <a:ea typeface="游ゴシック" panose="020B0400000000000000" pitchFamily="50" charset="-128"/>
              </a:rPr>
              <a:t>昊暉</a:t>
            </a:r>
            <a:endParaRPr kumimoji="1" lang="ja-JP" altLang="en-US" sz="7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3" name="テキスト ボックス 82">
            <a:extLst>
              <a:ext uri="{FF2B5EF4-FFF2-40B4-BE49-F238E27FC236}">
                <a16:creationId xmlns:a16="http://schemas.microsoft.com/office/drawing/2014/main" id="{30DC2024-6EA9-6373-4188-8D592A044337}"/>
              </a:ext>
            </a:extLst>
          </p:cNvPr>
          <p:cNvSpPr txBox="1"/>
          <p:nvPr/>
        </p:nvSpPr>
        <p:spPr>
          <a:xfrm>
            <a:off x="7202515" y="2378384"/>
            <a:ext cx="386176" cy="107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700">
                <a:latin typeface="游ゴシック" panose="020B0400000000000000" pitchFamily="50" charset="-128"/>
                <a:ea typeface="游ゴシック" panose="020B0400000000000000" pitchFamily="50" charset="-128"/>
              </a:rPr>
              <a:t>栗崎</a:t>
            </a:r>
            <a:r>
              <a:rPr kumimoji="1" lang="ja-JP" altLang="en-US" sz="700">
                <a:latin typeface="游ゴシック" panose="020B0400000000000000" pitchFamily="50" charset="-128"/>
                <a:ea typeface="游ゴシック" panose="020B0400000000000000" pitchFamily="50" charset="-128"/>
              </a:rPr>
              <a:t> 結大</a:t>
            </a:r>
          </a:p>
        </p:txBody>
      </p:sp>
      <p:sp>
        <p:nvSpPr>
          <p:cNvPr id="34" name="テキスト ボックス 83">
            <a:extLst>
              <a:ext uri="{FF2B5EF4-FFF2-40B4-BE49-F238E27FC236}">
                <a16:creationId xmlns:a16="http://schemas.microsoft.com/office/drawing/2014/main" id="{772A48B4-34B5-42A8-948C-07568B7CFCFA}"/>
              </a:ext>
            </a:extLst>
          </p:cNvPr>
          <p:cNvSpPr txBox="1"/>
          <p:nvPr/>
        </p:nvSpPr>
        <p:spPr>
          <a:xfrm>
            <a:off x="7200202" y="2979801"/>
            <a:ext cx="386176" cy="107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700">
                <a:latin typeface="游ゴシック" panose="020B0400000000000000" pitchFamily="50" charset="-128"/>
                <a:ea typeface="游ゴシック" panose="020B0400000000000000" pitchFamily="50" charset="-128"/>
              </a:rPr>
              <a:t>藤田</a:t>
            </a:r>
            <a:r>
              <a:rPr kumimoji="1" lang="ja-JP" altLang="en-US" sz="700">
                <a:latin typeface="游ゴシック" panose="020B0400000000000000" pitchFamily="50" charset="-128"/>
                <a:ea typeface="游ゴシック" panose="020B0400000000000000" pitchFamily="50" charset="-128"/>
              </a:rPr>
              <a:t> 海</a:t>
            </a:r>
          </a:p>
        </p:txBody>
      </p:sp>
      <p:sp>
        <p:nvSpPr>
          <p:cNvPr id="35" name="テキスト ボックス 84">
            <a:extLst>
              <a:ext uri="{FF2B5EF4-FFF2-40B4-BE49-F238E27FC236}">
                <a16:creationId xmlns:a16="http://schemas.microsoft.com/office/drawing/2014/main" id="{3AA5A370-6C97-9D19-5FC0-44E37D7F0617}"/>
              </a:ext>
            </a:extLst>
          </p:cNvPr>
          <p:cNvSpPr txBox="1"/>
          <p:nvPr/>
        </p:nvSpPr>
        <p:spPr>
          <a:xfrm>
            <a:off x="7181217" y="3577449"/>
            <a:ext cx="47370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7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木村</a:t>
            </a:r>
            <a:r>
              <a:rPr kumimoji="1" lang="ja-JP" altLang="en-US" sz="7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 真生喜</a:t>
            </a:r>
          </a:p>
        </p:txBody>
      </p:sp>
      <p:sp>
        <p:nvSpPr>
          <p:cNvPr id="36" name="テキスト ボックス 85">
            <a:extLst>
              <a:ext uri="{FF2B5EF4-FFF2-40B4-BE49-F238E27FC236}">
                <a16:creationId xmlns:a16="http://schemas.microsoft.com/office/drawing/2014/main" id="{F3714D76-F563-9D9D-6C3A-69CD35086F5E}"/>
              </a:ext>
            </a:extLst>
          </p:cNvPr>
          <p:cNvSpPr txBox="1"/>
          <p:nvPr/>
        </p:nvSpPr>
        <p:spPr>
          <a:xfrm>
            <a:off x="7891465" y="1874700"/>
            <a:ext cx="624606" cy="92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00">
                <a:latin typeface="游ゴシック" panose="020B0400000000000000" pitchFamily="50" charset="-128"/>
                <a:ea typeface="游ゴシック" panose="020B0400000000000000" pitchFamily="50" charset="-128"/>
              </a:rPr>
              <a:t>@reshiasu217116</a:t>
            </a:r>
            <a:endParaRPr kumimoji="1" lang="ja-JP" altLang="en-US" sz="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7" name="テキスト ボックス 89">
            <a:extLst>
              <a:ext uri="{FF2B5EF4-FFF2-40B4-BE49-F238E27FC236}">
                <a16:creationId xmlns:a16="http://schemas.microsoft.com/office/drawing/2014/main" id="{4DE4E9C5-B7F2-035F-7670-6304A732502C}"/>
              </a:ext>
            </a:extLst>
          </p:cNvPr>
          <p:cNvSpPr txBox="1"/>
          <p:nvPr/>
        </p:nvSpPr>
        <p:spPr>
          <a:xfrm>
            <a:off x="7902797" y="2377410"/>
            <a:ext cx="624606" cy="92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00">
                <a:latin typeface="游ゴシック" panose="020B0400000000000000" pitchFamily="50" charset="-128"/>
                <a:ea typeface="游ゴシック" panose="020B0400000000000000" pitchFamily="50" charset="-128"/>
              </a:rPr>
              <a:t>@kuri1033</a:t>
            </a:r>
            <a:endParaRPr kumimoji="1" lang="ja-JP" altLang="en-US" sz="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8" name="テキスト ボックス 90">
            <a:extLst>
              <a:ext uri="{FF2B5EF4-FFF2-40B4-BE49-F238E27FC236}">
                <a16:creationId xmlns:a16="http://schemas.microsoft.com/office/drawing/2014/main" id="{87ECC101-CFF7-5253-2359-383DE21C08A7}"/>
              </a:ext>
            </a:extLst>
          </p:cNvPr>
          <p:cNvSpPr txBox="1"/>
          <p:nvPr/>
        </p:nvSpPr>
        <p:spPr>
          <a:xfrm>
            <a:off x="7901851" y="2985621"/>
            <a:ext cx="624606" cy="92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00">
                <a:latin typeface="游ゴシック" panose="020B0400000000000000" pitchFamily="50" charset="-128"/>
                <a:ea typeface="游ゴシック" panose="020B0400000000000000" pitchFamily="50" charset="-128"/>
              </a:rPr>
              <a:t>@Kai_RCJ_11619</a:t>
            </a:r>
            <a:endParaRPr kumimoji="1" lang="ja-JP" altLang="en-US" sz="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9" name="テキスト ボックス 91">
            <a:extLst>
              <a:ext uri="{FF2B5EF4-FFF2-40B4-BE49-F238E27FC236}">
                <a16:creationId xmlns:a16="http://schemas.microsoft.com/office/drawing/2014/main" id="{4852D31A-0927-E1B0-57F7-86AD8B65A055}"/>
              </a:ext>
            </a:extLst>
          </p:cNvPr>
          <p:cNvSpPr txBox="1"/>
          <p:nvPr/>
        </p:nvSpPr>
        <p:spPr>
          <a:xfrm>
            <a:off x="7905980" y="3579161"/>
            <a:ext cx="624606" cy="92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00">
                <a:latin typeface="游ゴシック" panose="020B0400000000000000" pitchFamily="50" charset="-128"/>
                <a:ea typeface="游ゴシック" panose="020B0400000000000000" pitchFamily="50" charset="-128"/>
              </a:rPr>
              <a:t>@_maiki0826</a:t>
            </a:r>
            <a:endParaRPr kumimoji="1" lang="ja-JP" altLang="en-US" sz="6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0" name="フローチャート: 他ページ結合子 39">
            <a:extLst>
              <a:ext uri="{FF2B5EF4-FFF2-40B4-BE49-F238E27FC236}">
                <a16:creationId xmlns:a16="http://schemas.microsoft.com/office/drawing/2014/main" id="{59CCDD4E-D81E-5A0A-BF1D-0C6547102CA8}"/>
              </a:ext>
            </a:extLst>
          </p:cNvPr>
          <p:cNvSpPr/>
          <p:nvPr/>
        </p:nvSpPr>
        <p:spPr>
          <a:xfrm rot="16200000">
            <a:off x="4404455" y="1728504"/>
            <a:ext cx="137297" cy="621318"/>
          </a:xfrm>
          <a:prstGeom prst="flowChartOffpageConnector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ja-JP" sz="500">
              <a:solidFill>
                <a:schemeClr val="tx1"/>
              </a:solidFill>
            </a:endParaRPr>
          </a:p>
        </p:txBody>
      </p:sp>
      <p:sp>
        <p:nvSpPr>
          <p:cNvPr id="41" name="テキスト ボックス 124">
            <a:extLst>
              <a:ext uri="{FF2B5EF4-FFF2-40B4-BE49-F238E27FC236}">
                <a16:creationId xmlns:a16="http://schemas.microsoft.com/office/drawing/2014/main" id="{8523CF05-5EBB-E663-38AC-9B1CB35DDD27}"/>
              </a:ext>
            </a:extLst>
          </p:cNvPr>
          <p:cNvSpPr txBox="1"/>
          <p:nvPr/>
        </p:nvSpPr>
        <p:spPr>
          <a:xfrm>
            <a:off x="4172775" y="2145386"/>
            <a:ext cx="548715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チームの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各メンバーが、</a:t>
            </a:r>
            <a:b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単独で単純な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ロボットを組み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立てられる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程度の技術力を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身につける</a:t>
            </a:r>
            <a:r>
              <a:rPr lang="ja-JP" altLang="en-US" sz="500" dirty="0"/>
              <a:t>。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2" name="テキスト ボックス 126">
            <a:extLst>
              <a:ext uri="{FF2B5EF4-FFF2-40B4-BE49-F238E27FC236}">
                <a16:creationId xmlns:a16="http://schemas.microsoft.com/office/drawing/2014/main" id="{67F8AD35-8C13-6619-80F5-C1D8CC637FFF}"/>
              </a:ext>
            </a:extLst>
          </p:cNvPr>
          <p:cNvSpPr txBox="1"/>
          <p:nvPr/>
        </p:nvSpPr>
        <p:spPr>
          <a:xfrm>
            <a:off x="4753549" y="2148707"/>
            <a:ext cx="548715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チーム内で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担当分けをし、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限られた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時間の中で、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各メンバーが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特化した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技術力を習得する。</a:t>
            </a:r>
            <a:endParaRPr lang="en-US" altLang="ja-JP" sz="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3" name="テキスト ボックス 1024">
            <a:extLst>
              <a:ext uri="{FF2B5EF4-FFF2-40B4-BE49-F238E27FC236}">
                <a16:creationId xmlns:a16="http://schemas.microsoft.com/office/drawing/2014/main" id="{30C09FF8-3A37-4D49-B9A6-D737F6DBDF73}"/>
              </a:ext>
            </a:extLst>
          </p:cNvPr>
          <p:cNvSpPr txBox="1"/>
          <p:nvPr/>
        </p:nvSpPr>
        <p:spPr>
          <a:xfrm>
            <a:off x="5354650" y="2154271"/>
            <a:ext cx="97673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全国大会の反省を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踏まえ、実装したい機構について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話し合い、必要な技術を</a:t>
            </a:r>
            <a:endParaRPr lang="en-US" altLang="ja-JP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考えた上で計画を立てる。</a:t>
            </a:r>
            <a:b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手順をしっかり踏みながら、</a:t>
            </a:r>
            <a:b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</a:br>
            <a:r>
              <a:rPr lang="ja-JP" altLang="en-US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チーム全体の技術力を向上させる。</a:t>
            </a:r>
            <a:endParaRPr lang="en-US" altLang="ja-JP" sz="2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CB9690E8-1139-CD89-1D26-E08284FFFC12}"/>
              </a:ext>
            </a:extLst>
          </p:cNvPr>
          <p:cNvSpPr/>
          <p:nvPr/>
        </p:nvSpPr>
        <p:spPr>
          <a:xfrm>
            <a:off x="7033479" y="1316035"/>
            <a:ext cx="682188" cy="2793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45" name="Google Shape;94;p13">
            <a:extLst>
              <a:ext uri="{FF2B5EF4-FFF2-40B4-BE49-F238E27FC236}">
                <a16:creationId xmlns:a16="http://schemas.microsoft.com/office/drawing/2014/main" id="{E4233A39-A3BD-79DA-F453-E71068CCA8F1}"/>
              </a:ext>
            </a:extLst>
          </p:cNvPr>
          <p:cNvSpPr txBox="1"/>
          <p:nvPr/>
        </p:nvSpPr>
        <p:spPr>
          <a:xfrm>
            <a:off x="6913822" y="1338798"/>
            <a:ext cx="1008490" cy="35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100" tIns="61525" rIns="123100" bIns="615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1500" b="1" i="0" strike="noStrike" cap="none">
                <a:solidFill>
                  <a:srgbClr val="00B0F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M</a:t>
            </a:r>
            <a:r>
              <a:rPr lang="en-US" sz="1000" b="1" i="0" strike="noStrike" cap="none">
                <a:solidFill>
                  <a:srgbClr val="00B0F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ember</a:t>
            </a:r>
            <a:endParaRPr sz="1000" b="1" i="0" strike="noStrike" cap="none">
              <a:solidFill>
                <a:srgbClr val="00B0F0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eiryo"/>
              <a:sym typeface="Meiryo"/>
            </a:endParaRPr>
          </a:p>
        </p:txBody>
      </p:sp>
      <p:pic>
        <p:nvPicPr>
          <p:cNvPr id="46" name="Google Shape;175;p13">
            <a:extLst>
              <a:ext uri="{FF2B5EF4-FFF2-40B4-BE49-F238E27FC236}">
                <a16:creationId xmlns:a16="http://schemas.microsoft.com/office/drawing/2014/main" id="{0C8191F8-B2D7-AEC7-14F2-F815573974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049" t="9062" r="21119" b="8980"/>
          <a:stretch/>
        </p:blipFill>
        <p:spPr>
          <a:xfrm>
            <a:off x="7712807" y="1825603"/>
            <a:ext cx="162561" cy="170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175;p13">
            <a:extLst>
              <a:ext uri="{FF2B5EF4-FFF2-40B4-BE49-F238E27FC236}">
                <a16:creationId xmlns:a16="http://schemas.microsoft.com/office/drawing/2014/main" id="{0376C28E-E316-D255-304D-1DD67AABF6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049" t="9062" r="21119" b="8980"/>
          <a:stretch/>
        </p:blipFill>
        <p:spPr>
          <a:xfrm>
            <a:off x="7712805" y="2335168"/>
            <a:ext cx="162561" cy="170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175;p13">
            <a:extLst>
              <a:ext uri="{FF2B5EF4-FFF2-40B4-BE49-F238E27FC236}">
                <a16:creationId xmlns:a16="http://schemas.microsoft.com/office/drawing/2014/main" id="{9BD84F92-3204-B152-4A10-ACF52BD2BF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049" t="9062" r="21119" b="8980"/>
          <a:stretch/>
        </p:blipFill>
        <p:spPr>
          <a:xfrm>
            <a:off x="7713535" y="2944205"/>
            <a:ext cx="162561" cy="170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175;p13">
            <a:extLst>
              <a:ext uri="{FF2B5EF4-FFF2-40B4-BE49-F238E27FC236}">
                <a16:creationId xmlns:a16="http://schemas.microsoft.com/office/drawing/2014/main" id="{82F18150-A0DC-201A-250A-D69E295CFC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0049" t="9062" r="21119" b="8980"/>
          <a:stretch/>
        </p:blipFill>
        <p:spPr>
          <a:xfrm>
            <a:off x="7723063" y="3531685"/>
            <a:ext cx="162561" cy="17060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テキスト ボックス 11">
            <a:extLst>
              <a:ext uri="{FF2B5EF4-FFF2-40B4-BE49-F238E27FC236}">
                <a16:creationId xmlns:a16="http://schemas.microsoft.com/office/drawing/2014/main" id="{5E8A0457-15CF-BB01-F29B-9D4E06326A72}"/>
              </a:ext>
            </a:extLst>
          </p:cNvPr>
          <p:cNvSpPr txBox="1"/>
          <p:nvPr/>
        </p:nvSpPr>
        <p:spPr>
          <a:xfrm>
            <a:off x="7120547" y="2271771"/>
            <a:ext cx="58464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500">
                <a:latin typeface="游ゴシック" panose="020B0400000000000000" pitchFamily="50" charset="-128"/>
                <a:ea typeface="游ゴシック" panose="020B0400000000000000" pitchFamily="50" charset="-128"/>
              </a:rPr>
              <a:t>Kurisaki Yuta </a:t>
            </a:r>
          </a:p>
        </p:txBody>
      </p:sp>
      <p:sp>
        <p:nvSpPr>
          <p:cNvPr id="51" name="テキスト ボックス 11">
            <a:extLst>
              <a:ext uri="{FF2B5EF4-FFF2-40B4-BE49-F238E27FC236}">
                <a16:creationId xmlns:a16="http://schemas.microsoft.com/office/drawing/2014/main" id="{CF52A20E-4C9E-65D2-30F1-74734F05E13E}"/>
              </a:ext>
            </a:extLst>
          </p:cNvPr>
          <p:cNvSpPr txBox="1"/>
          <p:nvPr/>
        </p:nvSpPr>
        <p:spPr>
          <a:xfrm>
            <a:off x="7100266" y="3476428"/>
            <a:ext cx="58464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5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Kimura Maiki</a:t>
            </a:r>
            <a:endParaRPr kumimoji="1" lang="ja-JP" altLang="en-US" sz="5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2" name="テキスト ボックス 11">
            <a:extLst>
              <a:ext uri="{FF2B5EF4-FFF2-40B4-BE49-F238E27FC236}">
                <a16:creationId xmlns:a16="http://schemas.microsoft.com/office/drawing/2014/main" id="{810EA3F8-4201-39C8-FDE0-174271760107}"/>
              </a:ext>
            </a:extLst>
          </p:cNvPr>
          <p:cNvSpPr txBox="1"/>
          <p:nvPr/>
        </p:nvSpPr>
        <p:spPr>
          <a:xfrm>
            <a:off x="7114784" y="2870435"/>
            <a:ext cx="50368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500">
                <a:latin typeface="游ゴシック" panose="020B0400000000000000" pitchFamily="50" charset="-128"/>
                <a:ea typeface="游ゴシック" panose="020B0400000000000000" pitchFamily="50" charset="-128"/>
              </a:rPr>
              <a:t>Fujita Umi</a:t>
            </a:r>
            <a:endParaRPr kumimoji="1" lang="ja-JP" altLang="en-US" sz="50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FA4CFC55-0B20-A09C-DAB6-CF5102DD5685}"/>
              </a:ext>
            </a:extLst>
          </p:cNvPr>
          <p:cNvSpPr/>
          <p:nvPr/>
        </p:nvSpPr>
        <p:spPr>
          <a:xfrm>
            <a:off x="4250350" y="1311175"/>
            <a:ext cx="640737" cy="27937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kumimoji="1" lang="ja-JP" altLang="en-US"/>
          </a:p>
        </p:txBody>
      </p:sp>
      <p:sp>
        <p:nvSpPr>
          <p:cNvPr id="54" name="Google Shape;94;p13">
            <a:extLst>
              <a:ext uri="{FF2B5EF4-FFF2-40B4-BE49-F238E27FC236}">
                <a16:creationId xmlns:a16="http://schemas.microsoft.com/office/drawing/2014/main" id="{FA814E74-15ED-6D97-D165-3EFBFB1EBAA4}"/>
              </a:ext>
            </a:extLst>
          </p:cNvPr>
          <p:cNvSpPr txBox="1"/>
          <p:nvPr/>
        </p:nvSpPr>
        <p:spPr>
          <a:xfrm>
            <a:off x="4156427" y="1239952"/>
            <a:ext cx="896585" cy="35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100" tIns="61525" rIns="123100" bIns="615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1500" b="1" dirty="0">
                <a:solidFill>
                  <a:srgbClr val="00B0F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C</a:t>
            </a:r>
            <a:r>
              <a:rPr lang="en-US" sz="1000" b="1" dirty="0">
                <a:solidFill>
                  <a:srgbClr val="00B0F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oncept</a:t>
            </a:r>
            <a:endParaRPr sz="1500" b="1" i="0" strike="noStrike" cap="none" dirty="0">
              <a:solidFill>
                <a:srgbClr val="00B0F0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eiryo"/>
              <a:sym typeface="Meiryo"/>
            </a:endParaRPr>
          </a:p>
        </p:txBody>
      </p:sp>
      <p:pic>
        <p:nvPicPr>
          <p:cNvPr id="55" name="Google Shape;182;p13">
            <a:extLst>
              <a:ext uri="{FF2B5EF4-FFF2-40B4-BE49-F238E27FC236}">
                <a16:creationId xmlns:a16="http://schemas.microsoft.com/office/drawing/2014/main" id="{7C482D46-5F27-C966-C7F2-34ECEEC26E05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46406" y="3376613"/>
            <a:ext cx="673357" cy="661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289;p13">
            <a:extLst>
              <a:ext uri="{FF2B5EF4-FFF2-40B4-BE49-F238E27FC236}">
                <a16:creationId xmlns:a16="http://schemas.microsoft.com/office/drawing/2014/main" id="{5333F53F-A8B0-D826-516B-4AB4AA3C549A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187887" y="3417656"/>
            <a:ext cx="665101" cy="599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290;p13">
            <a:extLst>
              <a:ext uri="{FF2B5EF4-FFF2-40B4-BE49-F238E27FC236}">
                <a16:creationId xmlns:a16="http://schemas.microsoft.com/office/drawing/2014/main" id="{F26622B8-97B8-1F52-C311-8AC17CC2BF54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9089" y="3500438"/>
            <a:ext cx="444086" cy="44782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176;p13">
            <a:extLst>
              <a:ext uri="{FF2B5EF4-FFF2-40B4-BE49-F238E27FC236}">
                <a16:creationId xmlns:a16="http://schemas.microsoft.com/office/drawing/2014/main" id="{43D46124-E686-40C6-888F-4F1411830B3A}"/>
              </a:ext>
            </a:extLst>
          </p:cNvPr>
          <p:cNvSpPr txBox="1"/>
          <p:nvPr/>
        </p:nvSpPr>
        <p:spPr>
          <a:xfrm>
            <a:off x="4086678" y="2892319"/>
            <a:ext cx="243443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ja-JP" altLang="en-US" sz="7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　私たちのチームでは、板のフレームや部品の設計に</a:t>
            </a:r>
            <a:r>
              <a:rPr lang="en-US" altLang="ja-JP" sz="7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Autodesk Fusion</a:t>
            </a:r>
            <a:r>
              <a:rPr lang="ja-JP" altLang="en-US" sz="7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を使用しています。</a:t>
            </a:r>
            <a:endParaRPr lang="en-US" altLang="ja-JP" sz="7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ja-JP" altLang="en-US" sz="7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回路製作には</a:t>
            </a:r>
            <a:r>
              <a:rPr lang="en-US" altLang="ja-JP" sz="700" b="1"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KiCad</a:t>
            </a:r>
            <a:r>
              <a:rPr lang="ja-JP" altLang="en-US" sz="7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を使用しています。</a:t>
            </a:r>
            <a:endParaRPr lang="en-US" altLang="ja-JP" sz="7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ja-JP" altLang="en-US" sz="7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ロボットのプログラムは</a:t>
            </a:r>
            <a:r>
              <a:rPr lang="en-US" altLang="ja-JP" sz="7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Visual Studio</a:t>
            </a:r>
            <a:r>
              <a:rPr lang="ja-JP" altLang="en-US" sz="7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で組んでいます。</a:t>
            </a:r>
            <a:endParaRPr lang="ja-JP" altLang="en-US" sz="400" b="0" i="0" u="none" strike="noStrike" cap="none" dirty="0">
              <a:solidFill>
                <a:srgbClr val="000000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eiryo"/>
              <a:sym typeface="Meiryo"/>
            </a:endParaRPr>
          </a:p>
        </p:txBody>
      </p:sp>
      <p:sp>
        <p:nvSpPr>
          <p:cNvPr id="59" name="Google Shape;94;p13">
            <a:extLst>
              <a:ext uri="{FF2B5EF4-FFF2-40B4-BE49-F238E27FC236}">
                <a16:creationId xmlns:a16="http://schemas.microsoft.com/office/drawing/2014/main" id="{FA6E5CF0-A07A-9456-903D-9F6C134677D7}"/>
              </a:ext>
            </a:extLst>
          </p:cNvPr>
          <p:cNvSpPr txBox="1"/>
          <p:nvPr/>
        </p:nvSpPr>
        <p:spPr>
          <a:xfrm>
            <a:off x="4115277" y="2709033"/>
            <a:ext cx="668486" cy="355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100" tIns="61525" rIns="123100" bIns="615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ja-JP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kumimoji="1" sz="1400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1500" b="1" i="0" strike="noStrike" cap="none" dirty="0">
                <a:solidFill>
                  <a:srgbClr val="00B0F0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Meiryo"/>
                <a:sym typeface="Meiryo"/>
              </a:rPr>
              <a:t>Tool</a:t>
            </a:r>
            <a:endParaRPr sz="1500" b="1" i="0" strike="noStrike" cap="none" dirty="0">
              <a:solidFill>
                <a:srgbClr val="00B0F0"/>
              </a:solidFill>
              <a:latin typeface="游ゴシック" panose="020B0400000000000000" pitchFamily="50" charset="-128"/>
              <a:ea typeface="游ゴシック" panose="020B0400000000000000" pitchFamily="50" charset="-128"/>
              <a:cs typeface="Meiryo"/>
              <a:sym typeface="Meiryo"/>
            </a:endParaRPr>
          </a:p>
        </p:txBody>
      </p:sp>
      <p:sp>
        <p:nvSpPr>
          <p:cNvPr id="60" name="テキスト ボックス 119">
            <a:extLst>
              <a:ext uri="{FF2B5EF4-FFF2-40B4-BE49-F238E27FC236}">
                <a16:creationId xmlns:a16="http://schemas.microsoft.com/office/drawing/2014/main" id="{96DE6E15-2279-91AA-8798-F5FFBAC7357A}"/>
              </a:ext>
            </a:extLst>
          </p:cNvPr>
          <p:cNvSpPr txBox="1"/>
          <p:nvPr/>
        </p:nvSpPr>
        <p:spPr>
          <a:xfrm>
            <a:off x="4061719" y="1457411"/>
            <a:ext cx="2725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　昨シーズンからロボカップ・ライトウェイトに参加し、今年で</a:t>
            </a:r>
            <a:r>
              <a:rPr lang="en-US" altLang="ja-JP" sz="6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r>
              <a:rPr lang="ja-JP" altLang="en-US" sz="6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年目に</a:t>
            </a:r>
            <a:endParaRPr lang="en-US" altLang="ja-JP" sz="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6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なります。私たちのチームは、ほとんどのメンバーが高校生に</a:t>
            </a:r>
            <a:endParaRPr lang="en-US" altLang="ja-JP" sz="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6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なってから競技を始めたため、技術力も経験もほとんどありませんでした。限られた時間の中でメンバー全員が成長するために、私たちはチームの</a:t>
            </a:r>
            <a:endParaRPr lang="en-US" altLang="ja-JP" sz="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600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方針を考えました。今回は、その方針について紹介したいと思います。</a:t>
            </a:r>
          </a:p>
        </p:txBody>
      </p:sp>
      <p:sp>
        <p:nvSpPr>
          <p:cNvPr id="61" name="テキスト ボックス 84">
            <a:extLst>
              <a:ext uri="{FF2B5EF4-FFF2-40B4-BE49-F238E27FC236}">
                <a16:creationId xmlns:a16="http://schemas.microsoft.com/office/drawing/2014/main" id="{B9208DE3-C8EA-BE69-E2F3-8CD1740C1B8F}"/>
              </a:ext>
            </a:extLst>
          </p:cNvPr>
          <p:cNvSpPr txBox="1"/>
          <p:nvPr/>
        </p:nvSpPr>
        <p:spPr>
          <a:xfrm>
            <a:off x="7173225" y="3695550"/>
            <a:ext cx="73464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・回路設計担当</a:t>
            </a:r>
            <a:endParaRPr kumimoji="1" lang="ja-JP" altLang="en-US" sz="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2" name="テキスト ボックス 84">
            <a:extLst>
              <a:ext uri="{FF2B5EF4-FFF2-40B4-BE49-F238E27FC236}">
                <a16:creationId xmlns:a16="http://schemas.microsoft.com/office/drawing/2014/main" id="{33939D8B-7555-FACF-B51F-2783431AE34D}"/>
              </a:ext>
            </a:extLst>
          </p:cNvPr>
          <p:cNvSpPr txBox="1"/>
          <p:nvPr/>
        </p:nvSpPr>
        <p:spPr>
          <a:xfrm>
            <a:off x="7192354" y="3110944"/>
            <a:ext cx="73464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・機体設計担当</a:t>
            </a:r>
            <a:endParaRPr lang="en-US" altLang="ja-JP" sz="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kumimoji="1" lang="ja-JP" altLang="en-US" sz="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・回路設計担当</a:t>
            </a:r>
          </a:p>
        </p:txBody>
      </p:sp>
      <p:sp>
        <p:nvSpPr>
          <p:cNvPr id="63" name="テキスト ボックス 84">
            <a:extLst>
              <a:ext uri="{FF2B5EF4-FFF2-40B4-BE49-F238E27FC236}">
                <a16:creationId xmlns:a16="http://schemas.microsoft.com/office/drawing/2014/main" id="{55804123-1CDB-00C6-F1F1-02B92E320E30}"/>
              </a:ext>
            </a:extLst>
          </p:cNvPr>
          <p:cNvSpPr txBox="1"/>
          <p:nvPr/>
        </p:nvSpPr>
        <p:spPr>
          <a:xfrm>
            <a:off x="7167323" y="1988669"/>
            <a:ext cx="73464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・プログラム担当</a:t>
            </a:r>
            <a:endParaRPr lang="en-US" altLang="ja-JP" sz="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4" name="テキスト ボックス 84">
            <a:extLst>
              <a:ext uri="{FF2B5EF4-FFF2-40B4-BE49-F238E27FC236}">
                <a16:creationId xmlns:a16="http://schemas.microsoft.com/office/drawing/2014/main" id="{A26BD1AD-1C19-2FD2-D89F-89982011F790}"/>
              </a:ext>
            </a:extLst>
          </p:cNvPr>
          <p:cNvSpPr txBox="1"/>
          <p:nvPr/>
        </p:nvSpPr>
        <p:spPr>
          <a:xfrm>
            <a:off x="7192354" y="2508307"/>
            <a:ext cx="73464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・プログラム担当</a:t>
            </a:r>
            <a:endParaRPr lang="en-US" altLang="ja-JP" sz="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6" name="矢印: 山形 65">
            <a:extLst>
              <a:ext uri="{FF2B5EF4-FFF2-40B4-BE49-F238E27FC236}">
                <a16:creationId xmlns:a16="http://schemas.microsoft.com/office/drawing/2014/main" id="{D4FEA877-87B6-3D2F-8C84-027AAFFD36DA}"/>
              </a:ext>
            </a:extLst>
          </p:cNvPr>
          <p:cNvSpPr/>
          <p:nvPr/>
        </p:nvSpPr>
        <p:spPr>
          <a:xfrm>
            <a:off x="4713040" y="1976378"/>
            <a:ext cx="663032" cy="129658"/>
          </a:xfrm>
          <a:prstGeom prst="chevron">
            <a:avLst>
              <a:gd name="adj" fmla="val 86983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2" name="テキスト ボックス 124">
            <a:extLst>
              <a:ext uri="{FF2B5EF4-FFF2-40B4-BE49-F238E27FC236}">
                <a16:creationId xmlns:a16="http://schemas.microsoft.com/office/drawing/2014/main" id="{7B1B0D54-FAFE-E93C-4887-E666052D7F65}"/>
              </a:ext>
            </a:extLst>
          </p:cNvPr>
          <p:cNvSpPr txBox="1"/>
          <p:nvPr/>
        </p:nvSpPr>
        <p:spPr>
          <a:xfrm>
            <a:off x="4170839" y="1997765"/>
            <a:ext cx="54416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１年目（前半）</a:t>
            </a:r>
            <a:endParaRPr lang="en-US" altLang="ja-JP" sz="6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261C866C-4FE2-0C0D-8A8F-35B10B6A7BDF}"/>
              </a:ext>
            </a:extLst>
          </p:cNvPr>
          <p:cNvCxnSpPr>
            <a:cxnSpLocks/>
          </p:cNvCxnSpPr>
          <p:nvPr/>
        </p:nvCxnSpPr>
        <p:spPr>
          <a:xfrm flipV="1">
            <a:off x="4170041" y="2128897"/>
            <a:ext cx="506121" cy="6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FCC21694-12E4-7ADA-D259-10F1BF5279ED}"/>
              </a:ext>
            </a:extLst>
          </p:cNvPr>
          <p:cNvCxnSpPr>
            <a:cxnSpLocks/>
          </p:cNvCxnSpPr>
          <p:nvPr/>
        </p:nvCxnSpPr>
        <p:spPr>
          <a:xfrm>
            <a:off x="4752967" y="2131278"/>
            <a:ext cx="549297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C44793BF-FEC5-1888-39AA-09B629D074DD}"/>
              </a:ext>
            </a:extLst>
          </p:cNvPr>
          <p:cNvCxnSpPr>
            <a:cxnSpLocks/>
          </p:cNvCxnSpPr>
          <p:nvPr/>
        </p:nvCxnSpPr>
        <p:spPr>
          <a:xfrm>
            <a:off x="5354651" y="2131278"/>
            <a:ext cx="936023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126">
            <a:extLst>
              <a:ext uri="{FF2B5EF4-FFF2-40B4-BE49-F238E27FC236}">
                <a16:creationId xmlns:a16="http://schemas.microsoft.com/office/drawing/2014/main" id="{A519AD2E-9770-1690-7354-EEEE64DC69B3}"/>
              </a:ext>
            </a:extLst>
          </p:cNvPr>
          <p:cNvSpPr txBox="1"/>
          <p:nvPr/>
        </p:nvSpPr>
        <p:spPr>
          <a:xfrm>
            <a:off x="4805987" y="2000239"/>
            <a:ext cx="54786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１年目（後半）</a:t>
            </a:r>
            <a:endParaRPr lang="en-US" altLang="ja-JP" sz="500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3" name="矢印: 山形 92">
            <a:extLst>
              <a:ext uri="{FF2B5EF4-FFF2-40B4-BE49-F238E27FC236}">
                <a16:creationId xmlns:a16="http://schemas.microsoft.com/office/drawing/2014/main" id="{9906B0B1-8A69-50C9-C89E-9FEAF8019BBC}"/>
              </a:ext>
            </a:extLst>
          </p:cNvPr>
          <p:cNvSpPr/>
          <p:nvPr/>
        </p:nvSpPr>
        <p:spPr>
          <a:xfrm>
            <a:off x="5308528" y="1975454"/>
            <a:ext cx="1081478" cy="129658"/>
          </a:xfrm>
          <a:prstGeom prst="chevron">
            <a:avLst>
              <a:gd name="adj" fmla="val 86983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1" name="テキスト ボックス 126">
            <a:extLst>
              <a:ext uri="{FF2B5EF4-FFF2-40B4-BE49-F238E27FC236}">
                <a16:creationId xmlns:a16="http://schemas.microsoft.com/office/drawing/2014/main" id="{5A1FC7B0-5569-B973-8005-A3EDCEF17954}"/>
              </a:ext>
            </a:extLst>
          </p:cNvPr>
          <p:cNvSpPr txBox="1"/>
          <p:nvPr/>
        </p:nvSpPr>
        <p:spPr>
          <a:xfrm>
            <a:off x="5584467" y="1997554"/>
            <a:ext cx="37677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r>
              <a:rPr lang="ja-JP" altLang="en-US" sz="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年目以降</a:t>
            </a:r>
            <a:endParaRPr lang="en-US" altLang="ja-JP" sz="500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09" name="矢印: 山形 108">
            <a:extLst>
              <a:ext uri="{FF2B5EF4-FFF2-40B4-BE49-F238E27FC236}">
                <a16:creationId xmlns:a16="http://schemas.microsoft.com/office/drawing/2014/main" id="{2A9A4735-FB4F-B3DE-949D-C4F66B4C64F8}"/>
              </a:ext>
            </a:extLst>
          </p:cNvPr>
          <p:cNvSpPr/>
          <p:nvPr/>
        </p:nvSpPr>
        <p:spPr>
          <a:xfrm>
            <a:off x="6320681" y="1978154"/>
            <a:ext cx="348927" cy="129658"/>
          </a:xfrm>
          <a:prstGeom prst="chevron">
            <a:avLst>
              <a:gd name="adj" fmla="val 86983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92871165-1440-5393-4173-92330B8EB0E9}"/>
              </a:ext>
            </a:extLst>
          </p:cNvPr>
          <p:cNvSpPr/>
          <p:nvPr/>
        </p:nvSpPr>
        <p:spPr>
          <a:xfrm>
            <a:off x="6479603" y="1977834"/>
            <a:ext cx="190006" cy="12997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1AA34F8D-295E-B9CA-370E-D82AEE4C16E5}"/>
              </a:ext>
            </a:extLst>
          </p:cNvPr>
          <p:cNvCxnSpPr>
            <a:cxnSpLocks/>
          </p:cNvCxnSpPr>
          <p:nvPr/>
        </p:nvCxnSpPr>
        <p:spPr>
          <a:xfrm>
            <a:off x="6330716" y="2131278"/>
            <a:ext cx="338892" cy="2441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テキスト ボックス 126">
            <a:extLst>
              <a:ext uri="{FF2B5EF4-FFF2-40B4-BE49-F238E27FC236}">
                <a16:creationId xmlns:a16="http://schemas.microsoft.com/office/drawing/2014/main" id="{452B3D7D-B67B-B244-096D-073EADEE107C}"/>
              </a:ext>
            </a:extLst>
          </p:cNvPr>
          <p:cNvSpPr txBox="1"/>
          <p:nvPr/>
        </p:nvSpPr>
        <p:spPr>
          <a:xfrm>
            <a:off x="6442756" y="2002735"/>
            <a:ext cx="234566" cy="769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5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目標</a:t>
            </a:r>
            <a:endParaRPr lang="en-US" altLang="ja-JP" sz="5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14" name="テキスト ボックス 1024">
            <a:extLst>
              <a:ext uri="{FF2B5EF4-FFF2-40B4-BE49-F238E27FC236}">
                <a16:creationId xmlns:a16="http://schemas.microsoft.com/office/drawing/2014/main" id="{C6D2D2C1-AE63-796D-4E5B-99792D5BF236}"/>
              </a:ext>
            </a:extLst>
          </p:cNvPr>
          <p:cNvSpPr txBox="1"/>
          <p:nvPr/>
        </p:nvSpPr>
        <p:spPr>
          <a:xfrm>
            <a:off x="6362583" y="2274747"/>
            <a:ext cx="28889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5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世界大会</a:t>
            </a:r>
            <a:endParaRPr lang="en-US" altLang="ja-JP" sz="500" b="1" dirty="0">
              <a:solidFill>
                <a:srgbClr val="FF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500" b="1" dirty="0">
                <a:solidFill>
                  <a:srgbClr val="FF000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　優勝</a:t>
            </a:r>
            <a:endParaRPr lang="en-US" altLang="ja-JP" sz="500" b="1" dirty="0">
              <a:solidFill>
                <a:srgbClr val="FF0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371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290</Words>
  <Application>Microsoft Office PowerPoint</Application>
  <PresentationFormat>ワイド画面</PresentationFormat>
  <Paragraphs>59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結大 栗﨑</dc:creator>
  <cp:lastModifiedBy>結大 栗﨑</cp:lastModifiedBy>
  <cp:revision>1</cp:revision>
  <dcterms:created xsi:type="dcterms:W3CDTF">2025-02-23T16:28:57Z</dcterms:created>
  <dcterms:modified xsi:type="dcterms:W3CDTF">2025-02-23T17:18:23Z</dcterms:modified>
</cp:coreProperties>
</file>